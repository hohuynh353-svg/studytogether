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64" r:id="rId6"/>
    <p:sldId id="265" r:id="rId7"/>
    <p:sldId id="266" r:id="rId8"/>
    <p:sldId id="267" r:id="rId9"/>
    <p:sldId id="275" r:id="rId10"/>
    <p:sldId id="278" r:id="rId11"/>
    <p:sldId id="277" r:id="rId12"/>
    <p:sldId id="268" r:id="rId13"/>
    <p:sldId id="269" r:id="rId14"/>
    <p:sldId id="270" r:id="rId15"/>
    <p:sldId id="272" r:id="rId16"/>
    <p:sldId id="27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559" autoAdjust="0"/>
    <p:restoredTop sz="94660"/>
  </p:normalViewPr>
  <p:slideViewPr>
    <p:cSldViewPr snapToGrid="0">
      <p:cViewPr varScale="1">
        <p:scale>
          <a:sx n="73" d="100"/>
          <a:sy n="73" d="100"/>
        </p:scale>
        <p:origin x="6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Relationship Id="rId4" Type="http://schemas.openxmlformats.org/officeDocument/2006/relationships/image" Target="../media/image11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Relationship Id="rId5" Type="http://schemas.openxmlformats.org/officeDocument/2006/relationships/image" Target="../media/image19.wmf"/><Relationship Id="rId4" Type="http://schemas.openxmlformats.org/officeDocument/2006/relationships/image" Target="../media/image18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.wmf"/><Relationship Id="rId1" Type="http://schemas.openxmlformats.org/officeDocument/2006/relationships/image" Target="../media/image24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Relationship Id="rId4" Type="http://schemas.openxmlformats.org/officeDocument/2006/relationships/image" Target="../media/image29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9.wmf"/><Relationship Id="rId1" Type="http://schemas.openxmlformats.org/officeDocument/2006/relationships/image" Target="../media/image3.wmf"/><Relationship Id="rId5" Type="http://schemas.openxmlformats.org/officeDocument/2006/relationships/image" Target="../media/image12.wmf"/><Relationship Id="rId4" Type="http://schemas.openxmlformats.org/officeDocument/2006/relationships/image" Target="../media/image13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9.wmf"/><Relationship Id="rId1" Type="http://schemas.openxmlformats.org/officeDocument/2006/relationships/image" Target="../media/image3.wmf"/><Relationship Id="rId5" Type="http://schemas.openxmlformats.org/officeDocument/2006/relationships/image" Target="../media/image4.wmf"/><Relationship Id="rId4" Type="http://schemas.openxmlformats.org/officeDocument/2006/relationships/image" Target="../media/image12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F1C0A-553C-428C-B7C8-0EF0935D06BB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15920-DB36-4DB0-9BEB-C0DEC3C2A8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841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F1C0A-553C-428C-B7C8-0EF0935D06BB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15920-DB36-4DB0-9BEB-C0DEC3C2A8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533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F1C0A-553C-428C-B7C8-0EF0935D06BB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15920-DB36-4DB0-9BEB-C0DEC3C2A8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830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F1C0A-553C-428C-B7C8-0EF0935D06BB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15920-DB36-4DB0-9BEB-C0DEC3C2A8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966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F1C0A-553C-428C-B7C8-0EF0935D06BB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15920-DB36-4DB0-9BEB-C0DEC3C2A8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86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F1C0A-553C-428C-B7C8-0EF0935D06BB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15920-DB36-4DB0-9BEB-C0DEC3C2A8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983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F1C0A-553C-428C-B7C8-0EF0935D06BB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15920-DB36-4DB0-9BEB-C0DEC3C2A8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325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F1C0A-553C-428C-B7C8-0EF0935D06BB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15920-DB36-4DB0-9BEB-C0DEC3C2A8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435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F1C0A-553C-428C-B7C8-0EF0935D06BB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15920-DB36-4DB0-9BEB-C0DEC3C2A8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151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F1C0A-553C-428C-B7C8-0EF0935D06BB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15920-DB36-4DB0-9BEB-C0DEC3C2A8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332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F1C0A-553C-428C-B7C8-0EF0935D06BB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15920-DB36-4DB0-9BEB-C0DEC3C2A8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003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DF1C0A-553C-428C-B7C8-0EF0935D06BB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915920-DB36-4DB0-9BEB-C0DEC3C2A8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67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3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5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9.bin"/><Relationship Id="rId10" Type="http://schemas.openxmlformats.org/officeDocument/2006/relationships/image" Target="../media/image11.wmf"/><Relationship Id="rId4" Type="http://schemas.openxmlformats.org/officeDocument/2006/relationships/image" Target="../media/image8.wmf"/><Relationship Id="rId9" Type="http://schemas.openxmlformats.org/officeDocument/2006/relationships/oleObject" Target="../embeddings/oleObject11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12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13" Type="http://schemas.openxmlformats.org/officeDocument/2006/relationships/image" Target="../media/image19.wmf"/><Relationship Id="rId3" Type="http://schemas.openxmlformats.org/officeDocument/2006/relationships/image" Target="../media/image20.png"/><Relationship Id="rId7" Type="http://schemas.openxmlformats.org/officeDocument/2006/relationships/image" Target="../media/image16.wmf"/><Relationship Id="rId12" Type="http://schemas.openxmlformats.org/officeDocument/2006/relationships/oleObject" Target="../embeddings/oleObject1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6.bin"/><Relationship Id="rId11" Type="http://schemas.openxmlformats.org/officeDocument/2006/relationships/image" Target="../media/image18.wmf"/><Relationship Id="rId5" Type="http://schemas.openxmlformats.org/officeDocument/2006/relationships/image" Target="../media/image15.wmf"/><Relationship Id="rId10" Type="http://schemas.openxmlformats.org/officeDocument/2006/relationships/oleObject" Target="../embeddings/oleObject18.bin"/><Relationship Id="rId4" Type="http://schemas.openxmlformats.org/officeDocument/2006/relationships/oleObject" Target="../embeddings/oleObject15.bin"/><Relationship Id="rId9" Type="http://schemas.openxmlformats.org/officeDocument/2006/relationships/image" Target="../media/image17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21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22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7" Type="http://schemas.openxmlformats.org/officeDocument/2006/relationships/image" Target="../media/image20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24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.bin"/><Relationship Id="rId3" Type="http://schemas.openxmlformats.org/officeDocument/2006/relationships/image" Target="../media/image30.png"/><Relationship Id="rId7" Type="http://schemas.openxmlformats.org/officeDocument/2006/relationships/image" Target="../media/image2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26.bin"/><Relationship Id="rId11" Type="http://schemas.openxmlformats.org/officeDocument/2006/relationships/image" Target="../media/image29.wmf"/><Relationship Id="rId5" Type="http://schemas.openxmlformats.org/officeDocument/2006/relationships/image" Target="../media/image26.wmf"/><Relationship Id="rId10" Type="http://schemas.openxmlformats.org/officeDocument/2006/relationships/oleObject" Target="../embeddings/oleObject28.bin"/><Relationship Id="rId4" Type="http://schemas.openxmlformats.org/officeDocument/2006/relationships/oleObject" Target="../embeddings/oleObject25.bin"/><Relationship Id="rId9" Type="http://schemas.openxmlformats.org/officeDocument/2006/relationships/image" Target="../media/image28.w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14.bin"/><Relationship Id="rId12" Type="http://schemas.openxmlformats.org/officeDocument/2006/relationships/image" Target="../media/image1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9.wmf"/><Relationship Id="rId11" Type="http://schemas.openxmlformats.org/officeDocument/2006/relationships/oleObject" Target="../embeddings/oleObject12.bin"/><Relationship Id="rId5" Type="http://schemas.openxmlformats.org/officeDocument/2006/relationships/oleObject" Target="../embeddings/oleObject9.bin"/><Relationship Id="rId10" Type="http://schemas.openxmlformats.org/officeDocument/2006/relationships/image" Target="../media/image13.wmf"/><Relationship Id="rId4" Type="http://schemas.openxmlformats.org/officeDocument/2006/relationships/image" Target="../media/image3.wmf"/><Relationship Id="rId9" Type="http://schemas.openxmlformats.org/officeDocument/2006/relationships/oleObject" Target="../embeddings/oleObject13.bin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14.bin"/><Relationship Id="rId12" Type="http://schemas.openxmlformats.org/officeDocument/2006/relationships/image" Target="../media/image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9.wmf"/><Relationship Id="rId11" Type="http://schemas.openxmlformats.org/officeDocument/2006/relationships/oleObject" Target="../embeddings/oleObject29.bin"/><Relationship Id="rId5" Type="http://schemas.openxmlformats.org/officeDocument/2006/relationships/oleObject" Target="../embeddings/oleObject9.bin"/><Relationship Id="rId10" Type="http://schemas.openxmlformats.org/officeDocument/2006/relationships/image" Target="../media/image12.wmf"/><Relationship Id="rId4" Type="http://schemas.openxmlformats.org/officeDocument/2006/relationships/image" Target="../media/image3.wmf"/><Relationship Id="rId9" Type="http://schemas.openxmlformats.org/officeDocument/2006/relationships/oleObject" Target="../embeddings/oleObject12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12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80757"/>
          </a:xfrm>
        </p:spPr>
        <p:txBody>
          <a:bodyPr>
            <a:normAutofit fontScale="90000"/>
          </a:bodyPr>
          <a:lstStyle/>
          <a:p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nhớ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625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E70C0-1A60-4474-B5E6-BDD6E2E946EF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524000" y="2"/>
            <a:ext cx="9144000" cy="129266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just" defTabSz="358775">
              <a:lnSpc>
                <a:spcPct val="150000"/>
              </a:lnSpc>
            </a:pPr>
            <a:r>
              <a:rPr lang="en-US" sz="2600" b="1" dirty="0">
                <a:latin typeface="Arial" pitchFamily="34" charset="0"/>
                <a:cs typeface="Arial" pitchFamily="34" charset="0"/>
              </a:rPr>
              <a:t>3. </a:t>
            </a:r>
            <a:r>
              <a:rPr lang="vi-VN" sz="2600" b="1" dirty="0">
                <a:latin typeface="Arial" pitchFamily="34" charset="0"/>
                <a:cs typeface="Arial" pitchFamily="34" charset="0"/>
              </a:rPr>
              <a:t>Chia quá trình chuẩn độ </a:t>
            </a:r>
            <a:r>
              <a:rPr lang="en-US" sz="2600" b="1" dirty="0" smtClean="0">
                <a:latin typeface="Arial" pitchFamily="34" charset="0"/>
                <a:cs typeface="Arial" pitchFamily="34" charset="0"/>
              </a:rPr>
              <a:t>acid </a:t>
            </a:r>
            <a:r>
              <a:rPr lang="en-US" sz="2600" b="1" dirty="0" err="1" smtClean="0">
                <a:latin typeface="Arial" pitchFamily="34" charset="0"/>
                <a:cs typeface="Arial" pitchFamily="34" charset="0"/>
              </a:rPr>
              <a:t>mạnh</a:t>
            </a:r>
            <a:r>
              <a:rPr lang="en-US" sz="26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600" b="1" dirty="0" err="1" smtClean="0">
                <a:latin typeface="Arial" pitchFamily="34" charset="0"/>
                <a:cs typeface="Arial" pitchFamily="34" charset="0"/>
              </a:rPr>
              <a:t>bằng</a:t>
            </a:r>
            <a:r>
              <a:rPr lang="en-US" sz="2600" b="1" dirty="0" smtClean="0">
                <a:latin typeface="Arial" pitchFamily="34" charset="0"/>
                <a:cs typeface="Arial" pitchFamily="34" charset="0"/>
              </a:rPr>
              <a:t> base </a:t>
            </a:r>
            <a:r>
              <a:rPr lang="en-US" sz="2600" b="1" dirty="0" err="1" smtClean="0">
                <a:latin typeface="Arial" pitchFamily="34" charset="0"/>
                <a:cs typeface="Arial" pitchFamily="34" charset="0"/>
              </a:rPr>
              <a:t>mạnh</a:t>
            </a:r>
            <a:r>
              <a:rPr lang="en-US" sz="26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vi-VN" sz="2600" b="1" dirty="0" smtClean="0">
                <a:latin typeface="Arial" pitchFamily="34" charset="0"/>
                <a:cs typeface="Arial" pitchFamily="34" charset="0"/>
              </a:rPr>
              <a:t>thành </a:t>
            </a:r>
            <a:r>
              <a:rPr lang="vi-VN" sz="2600" b="1" dirty="0">
                <a:latin typeface="Arial" pitchFamily="34" charset="0"/>
                <a:cs typeface="Arial" pitchFamily="34" charset="0"/>
              </a:rPr>
              <a:t>các trường hợp cụ thể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6085265"/>
              </p:ext>
            </p:extLst>
          </p:nvPr>
        </p:nvGraphicFramePr>
        <p:xfrm>
          <a:off x="1730311" y="1181100"/>
          <a:ext cx="8534399" cy="56769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285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3726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smtClean="0">
                          <a:latin typeface="Arial" pitchFamily="34" charset="0"/>
                          <a:cs typeface="Arial" pitchFamily="34" charset="0"/>
                        </a:rPr>
                        <a:t>V (ml)</a:t>
                      </a:r>
                      <a:endParaRPr lang="en-US" sz="28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smtClean="0">
                          <a:latin typeface="Arial" pitchFamily="34" charset="0"/>
                          <a:cs typeface="Arial" pitchFamily="34" charset="0"/>
                        </a:rPr>
                        <a:t>Dung </a:t>
                      </a:r>
                      <a:r>
                        <a:rPr lang="en-US" sz="2800" b="1" dirty="0" err="1" smtClean="0">
                          <a:latin typeface="Arial" pitchFamily="34" charset="0"/>
                          <a:cs typeface="Arial" pitchFamily="34" charset="0"/>
                        </a:rPr>
                        <a:t>dịch</a:t>
                      </a:r>
                      <a:endParaRPr lang="en-US" sz="28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smtClean="0">
                          <a:latin typeface="Arial" pitchFamily="34" charset="0"/>
                          <a:cs typeface="Arial" pitchFamily="34" charset="0"/>
                        </a:rPr>
                        <a:t>pH</a:t>
                      </a:r>
                      <a:endParaRPr lang="en-US" sz="28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726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smtClean="0"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  <a:endParaRPr lang="en-US" sz="28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800" b="1" dirty="0" smtClean="0">
                          <a:latin typeface="Arial" pitchFamily="34" charset="0"/>
                          <a:cs typeface="Arial" pitchFamily="34" charset="0"/>
                        </a:rPr>
                        <a:t>Acid </a:t>
                      </a:r>
                      <a:r>
                        <a:rPr lang="en-US" sz="2800" b="1" dirty="0" err="1" smtClean="0">
                          <a:latin typeface="Arial" pitchFamily="34" charset="0"/>
                          <a:cs typeface="Arial" pitchFamily="34" charset="0"/>
                        </a:rPr>
                        <a:t>mạnh</a:t>
                      </a:r>
                      <a:endParaRPr lang="en-US" sz="28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2800" b="1" spc="100" dirty="0" smtClean="0">
                          <a:ln w="18000">
                            <a:solidFill>
                              <a:schemeClr val="tx1"/>
                            </a:solidFill>
                            <a:prstDash val="solid"/>
                          </a:ln>
                          <a:effectLst>
                            <a:outerShdw blurRad="25000" dist="20000" dir="16020000" algn="tl">
                              <a:schemeClr val="accent1">
                                <a:satMod val="200000"/>
                                <a:shade val="1000"/>
                                <a:alpha val="60000"/>
                              </a:schemeClr>
                            </a:outerShdw>
                          </a:effectLst>
                          <a:ea typeface="Calibri" pitchFamily="34" charset="0"/>
                          <a:cs typeface="Times New Roman" pitchFamily="18" charset="0"/>
                        </a:rPr>
                        <a:t>pH =</a:t>
                      </a:r>
                      <a:r>
                        <a:rPr lang="en-US" sz="2800" b="1" spc="100" dirty="0" smtClean="0">
                          <a:ln w="18000">
                            <a:solidFill>
                              <a:schemeClr val="tx1"/>
                            </a:solidFill>
                            <a:prstDash val="solid"/>
                          </a:ln>
                          <a:effectLst>
                            <a:outerShdw blurRad="25000" dist="20000" dir="16020000" algn="tl">
                              <a:schemeClr val="accent1">
                                <a:satMod val="200000"/>
                                <a:shade val="1000"/>
                                <a:alpha val="60000"/>
                              </a:schemeClr>
                            </a:outerShdw>
                          </a:effectLst>
                          <a:ea typeface="Calibri" pitchFamily="34" charset="0"/>
                          <a:cs typeface="Times New Roman" pitchFamily="18" charset="0"/>
                        </a:rPr>
                        <a:t> –</a:t>
                      </a:r>
                      <a:r>
                        <a:rPr lang="vi-VN" sz="2800" b="1" spc="100" dirty="0" smtClean="0">
                          <a:ln w="18000">
                            <a:solidFill>
                              <a:schemeClr val="tx1"/>
                            </a:solidFill>
                            <a:prstDash val="solid"/>
                          </a:ln>
                          <a:effectLst>
                            <a:outerShdw blurRad="25000" dist="20000" dir="16020000" algn="tl">
                              <a:schemeClr val="accent1">
                                <a:satMod val="200000"/>
                                <a:shade val="1000"/>
                                <a:alpha val="60000"/>
                              </a:schemeClr>
                            </a:outerShdw>
                          </a:effectLst>
                          <a:ea typeface="Calibri" pitchFamily="34" charset="0"/>
                          <a:cs typeface="Times New Roman" pitchFamily="18" charset="0"/>
                        </a:rPr>
                        <a:t>lgC</a:t>
                      </a:r>
                      <a:r>
                        <a:rPr lang="vi-VN" sz="2800" b="1" spc="100" baseline="-30000" dirty="0" smtClean="0">
                          <a:ln w="18000">
                            <a:solidFill>
                              <a:schemeClr val="tx1"/>
                            </a:solidFill>
                            <a:prstDash val="solid"/>
                          </a:ln>
                          <a:effectLst>
                            <a:outerShdw blurRad="25000" dist="20000" dir="16020000" algn="tl">
                              <a:schemeClr val="accent1">
                                <a:satMod val="200000"/>
                                <a:shade val="1000"/>
                                <a:alpha val="60000"/>
                              </a:schemeClr>
                            </a:outerShdw>
                          </a:effectLst>
                          <a:ea typeface="Calibri" pitchFamily="34" charset="0"/>
                          <a:cs typeface="Times New Roman" pitchFamily="18" charset="0"/>
                        </a:rPr>
                        <a:t>o</a:t>
                      </a:r>
                      <a:endParaRPr lang="vi-VN" sz="2800" b="1" spc="100" dirty="0" smtClean="0">
                        <a:ln w="18000">
                          <a:solidFill>
                            <a:schemeClr val="tx1"/>
                          </a:solidFill>
                          <a:prstDash val="solid"/>
                        </a:ln>
                        <a:effectLst>
                          <a:outerShdw blurRad="25000" dist="20000" dir="16020000" algn="tl">
                            <a:schemeClr val="accent1">
                              <a:satMod val="200000"/>
                              <a:shade val="1000"/>
                              <a:alpha val="60000"/>
                            </a:schemeClr>
                          </a:outerShdw>
                        </a:effectLst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60170">
                <a:tc>
                  <a:txBody>
                    <a:bodyPr/>
                    <a:lstStyle/>
                    <a:p>
                      <a:pPr algn="ctr"/>
                      <a:r>
                        <a:rPr lang="en-US" sz="2800" b="1" u="none" dirty="0" smtClean="0">
                          <a:solidFill>
                            <a:schemeClr val="tx1"/>
                          </a:solidFill>
                          <a:latin typeface="Arial" pitchFamily="34" charset="0"/>
                          <a:ea typeface="Calibri" pitchFamily="34" charset="0"/>
                          <a:cs typeface="Arial" pitchFamily="34" charset="0"/>
                        </a:rPr>
                        <a:t>0 &lt; V &lt; </a:t>
                      </a:r>
                      <a:r>
                        <a:rPr lang="vi-VN" sz="2800" b="1" u="none" dirty="0" smtClean="0">
                          <a:solidFill>
                            <a:schemeClr val="tx1"/>
                          </a:solidFill>
                          <a:latin typeface="Arial" pitchFamily="34" charset="0"/>
                          <a:ea typeface="Calibri" pitchFamily="34" charset="0"/>
                          <a:cs typeface="Arial" pitchFamily="34" charset="0"/>
                        </a:rPr>
                        <a:t>V</a:t>
                      </a:r>
                      <a:r>
                        <a:rPr lang="vi-VN" sz="2800" b="1" u="none" baseline="-30000" dirty="0" smtClean="0">
                          <a:solidFill>
                            <a:schemeClr val="tx1"/>
                          </a:solidFill>
                          <a:latin typeface="Arial" pitchFamily="34" charset="0"/>
                          <a:ea typeface="Calibri" pitchFamily="34" charset="0"/>
                          <a:cs typeface="Arial" pitchFamily="34" charset="0"/>
                        </a:rPr>
                        <a:t>tđ</a:t>
                      </a:r>
                      <a:r>
                        <a:rPr lang="vi-VN" sz="2800" u="none" baseline="-30000" dirty="0" smtClean="0">
                          <a:solidFill>
                            <a:schemeClr val="tx1"/>
                          </a:solidFill>
                          <a:latin typeface="Arial" pitchFamily="34" charset="0"/>
                          <a:ea typeface="Calibri" pitchFamily="34" charset="0"/>
                          <a:cs typeface="Arial" pitchFamily="34" charset="0"/>
                        </a:rPr>
                        <a:t> </a:t>
                      </a:r>
                      <a:endParaRPr lang="en-US" sz="2800" b="1" u="none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800" b="1" dirty="0" smtClean="0">
                          <a:latin typeface="Arial" pitchFamily="34" charset="0"/>
                          <a:cs typeface="Arial" pitchFamily="34" charset="0"/>
                        </a:rPr>
                        <a:t>Acid </a:t>
                      </a:r>
                      <a:r>
                        <a:rPr lang="en-US" sz="2800" b="1" dirty="0" err="1" smtClean="0">
                          <a:latin typeface="Arial" pitchFamily="34" charset="0"/>
                          <a:cs typeface="Arial" pitchFamily="34" charset="0"/>
                        </a:rPr>
                        <a:t>mạnh</a:t>
                      </a:r>
                      <a:r>
                        <a:rPr lang="en-US" sz="2800" b="1" baseline="0" dirty="0" smtClean="0"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n-US" sz="2800" b="1" baseline="0" dirty="0" err="1" smtClean="0">
                          <a:latin typeface="Arial" pitchFamily="34" charset="0"/>
                          <a:cs typeface="Arial" pitchFamily="34" charset="0"/>
                        </a:rPr>
                        <a:t>dư</a:t>
                      </a:r>
                      <a:endParaRPr lang="en-US" sz="28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b="1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60170">
                <a:tc>
                  <a:txBody>
                    <a:bodyPr/>
                    <a:lstStyle/>
                    <a:p>
                      <a:pPr algn="ctr"/>
                      <a:r>
                        <a:rPr lang="vi-VN" sz="2800" b="1" dirty="0" smtClean="0">
                          <a:ea typeface="Calibri" pitchFamily="34" charset="0"/>
                          <a:cs typeface="Times New Roman" pitchFamily="18" charset="0"/>
                        </a:rPr>
                        <a:t>V = V</a:t>
                      </a:r>
                      <a:r>
                        <a:rPr lang="vi-VN" sz="2800" b="1" baseline="-30000" dirty="0" smtClean="0">
                          <a:ea typeface="Calibri" pitchFamily="34" charset="0"/>
                          <a:cs typeface="Times New Roman" pitchFamily="18" charset="0"/>
                        </a:rPr>
                        <a:t>tđ</a:t>
                      </a:r>
                      <a:r>
                        <a:rPr lang="en-US" sz="2800" b="1" baseline="-30000" dirty="0" smtClean="0">
                          <a:ea typeface="Calibri" pitchFamily="34" charset="0"/>
                          <a:cs typeface="Times New Roman" pitchFamily="18" charset="0"/>
                        </a:rPr>
                        <a:t> </a:t>
                      </a:r>
                      <a:endParaRPr lang="en-US" sz="28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800" b="1" dirty="0" err="1" smtClean="0">
                          <a:latin typeface="Arial" pitchFamily="34" charset="0"/>
                          <a:cs typeface="Arial" pitchFamily="34" charset="0"/>
                        </a:rPr>
                        <a:t>Muối</a:t>
                      </a:r>
                      <a:r>
                        <a:rPr lang="en-US" sz="2800" b="1" dirty="0" smtClean="0"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n-US" sz="2800" b="1" dirty="0" err="1" smtClean="0">
                          <a:latin typeface="Arial" pitchFamily="34" charset="0"/>
                          <a:cs typeface="Arial" pitchFamily="34" charset="0"/>
                        </a:rPr>
                        <a:t>trung</a:t>
                      </a:r>
                      <a:r>
                        <a:rPr lang="en-US" sz="2800" b="1" dirty="0" smtClean="0"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n-US" sz="2800" b="1" dirty="0" err="1" smtClean="0">
                          <a:latin typeface="Arial" pitchFamily="34" charset="0"/>
                          <a:cs typeface="Arial" pitchFamily="34" charset="0"/>
                        </a:rPr>
                        <a:t>hòa</a:t>
                      </a:r>
                      <a:endParaRPr lang="en-US" sz="28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smtClean="0"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  <a:endParaRPr lang="en-US" sz="28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82040">
                <a:tc>
                  <a:txBody>
                    <a:bodyPr/>
                    <a:lstStyle/>
                    <a:p>
                      <a:pPr algn="ctr"/>
                      <a:r>
                        <a:rPr lang="vi-VN" sz="2800" b="1" dirty="0" smtClean="0">
                          <a:ea typeface="Calibri" pitchFamily="34" charset="0"/>
                          <a:cs typeface="Times New Roman" pitchFamily="18" charset="0"/>
                        </a:rPr>
                        <a:t>V </a:t>
                      </a:r>
                      <a:r>
                        <a:rPr lang="en-US" sz="2800" b="1" dirty="0" smtClean="0">
                          <a:ea typeface="Calibri" pitchFamily="34" charset="0"/>
                          <a:cs typeface="Times New Roman" pitchFamily="18" charset="0"/>
                        </a:rPr>
                        <a:t>&gt;</a:t>
                      </a:r>
                      <a:r>
                        <a:rPr lang="vi-VN" sz="2800" b="1" dirty="0" smtClean="0">
                          <a:ea typeface="Calibri" pitchFamily="34" charset="0"/>
                          <a:cs typeface="Times New Roman" pitchFamily="18" charset="0"/>
                        </a:rPr>
                        <a:t> V</a:t>
                      </a:r>
                      <a:r>
                        <a:rPr lang="vi-VN" sz="2800" b="1" baseline="-30000" dirty="0" smtClean="0">
                          <a:ea typeface="Calibri" pitchFamily="34" charset="0"/>
                          <a:cs typeface="Times New Roman" pitchFamily="18" charset="0"/>
                        </a:rPr>
                        <a:t>tđ</a:t>
                      </a:r>
                      <a:r>
                        <a:rPr lang="en-US" sz="2800" b="1" baseline="-30000" dirty="0" smtClean="0">
                          <a:ea typeface="Calibri" pitchFamily="34" charset="0"/>
                          <a:cs typeface="Times New Roman" pitchFamily="18" charset="0"/>
                        </a:rPr>
                        <a:t> </a:t>
                      </a:r>
                      <a:endParaRPr lang="en-US" sz="28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800" b="1" dirty="0" smtClean="0">
                          <a:latin typeface="Arial" pitchFamily="34" charset="0"/>
                          <a:cs typeface="Arial" pitchFamily="34" charset="0"/>
                        </a:rPr>
                        <a:t>Base </a:t>
                      </a:r>
                      <a:r>
                        <a:rPr lang="en-US" sz="2800" b="1" dirty="0" err="1" smtClean="0">
                          <a:latin typeface="Arial" pitchFamily="34" charset="0"/>
                          <a:cs typeface="Arial" pitchFamily="34" charset="0"/>
                        </a:rPr>
                        <a:t>mạnh</a:t>
                      </a:r>
                      <a:endParaRPr lang="en-US" sz="28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957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2716591"/>
              </p:ext>
            </p:extLst>
          </p:nvPr>
        </p:nvGraphicFramePr>
        <p:xfrm>
          <a:off x="7116762" y="3099018"/>
          <a:ext cx="2987675" cy="976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8" name="Equation" r:id="rId3" imgW="1320480" imgH="431640" progId="Equation.3">
                  <p:embed/>
                </p:oleObj>
              </mc:Choice>
              <mc:Fallback>
                <p:oleObj name="Equation" r:id="rId3" imgW="1320480" imgH="431640" progId="Equation.3">
                  <p:embed/>
                  <p:pic>
                    <p:nvPicPr>
                      <p:cNvPr id="10957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6762" y="3099018"/>
                        <a:ext cx="2987675" cy="976313"/>
                      </a:xfrm>
                      <a:prstGeom prst="rect">
                        <a:avLst/>
                      </a:prstGeom>
                      <a:solidFill>
                        <a:srgbClr val="CC99F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571" name="Object 3"/>
          <p:cNvGraphicFramePr>
            <a:graphicFrameLocks noChangeAspect="1"/>
          </p:cNvGraphicFramePr>
          <p:nvPr/>
        </p:nvGraphicFramePr>
        <p:xfrm>
          <a:off x="6740857" y="5486400"/>
          <a:ext cx="3523853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9" name="Equation" r:id="rId5" imgW="1536480" imgH="431640" progId="Equation.3">
                  <p:embed/>
                </p:oleObj>
              </mc:Choice>
              <mc:Fallback>
                <p:oleObj name="Equation" r:id="rId5" imgW="1536480" imgH="431640" progId="Equation.3">
                  <p:embed/>
                  <p:pic>
                    <p:nvPicPr>
                      <p:cNvPr id="10957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0857" y="5486400"/>
                        <a:ext cx="3523853" cy="990600"/>
                      </a:xfrm>
                      <a:prstGeom prst="rect">
                        <a:avLst/>
                      </a:prstGeom>
                      <a:solidFill>
                        <a:srgbClr val="FFCC00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36821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206" y="156754"/>
            <a:ext cx="39711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</a:rPr>
              <a:t>Sai </a:t>
            </a:r>
            <a:r>
              <a:rPr lang="en-US" sz="3200" b="1" dirty="0" err="1" smtClean="0">
                <a:solidFill>
                  <a:srgbClr val="FF0000"/>
                </a:solidFill>
              </a:rPr>
              <a:t>số</a:t>
            </a:r>
            <a:r>
              <a:rPr lang="en-US" sz="3200" b="1" dirty="0" smtClean="0">
                <a:solidFill>
                  <a:srgbClr val="FF0000"/>
                </a:solidFill>
              </a:rPr>
              <a:t> </a:t>
            </a:r>
            <a:r>
              <a:rPr lang="en-US" sz="3200" b="1" dirty="0" err="1" smtClean="0">
                <a:solidFill>
                  <a:srgbClr val="FF0000"/>
                </a:solidFill>
              </a:rPr>
              <a:t>chuẩn</a:t>
            </a:r>
            <a:r>
              <a:rPr lang="en-US" sz="3200" b="1" dirty="0" smtClean="0">
                <a:solidFill>
                  <a:srgbClr val="FF0000"/>
                </a:solidFill>
              </a:rPr>
              <a:t> </a:t>
            </a:r>
            <a:r>
              <a:rPr lang="en-US" sz="3200" b="1" dirty="0" err="1" smtClean="0">
                <a:solidFill>
                  <a:srgbClr val="FF0000"/>
                </a:solidFill>
              </a:rPr>
              <a:t>độ</a:t>
            </a:r>
            <a:r>
              <a:rPr lang="en-US" sz="3200" b="1" dirty="0" smtClean="0">
                <a:solidFill>
                  <a:srgbClr val="FF0000"/>
                </a:solidFill>
              </a:rPr>
              <a:t>: 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3427639" y="142385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4161974"/>
              </p:ext>
            </p:extLst>
          </p:nvPr>
        </p:nvGraphicFramePr>
        <p:xfrm>
          <a:off x="4786177" y="1319348"/>
          <a:ext cx="3423861" cy="12670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0" name="Equation" r:id="rId3" imgW="1205977" imgH="444307" progId="Equation.3">
                  <p:embed/>
                </p:oleObj>
              </mc:Choice>
              <mc:Fallback>
                <p:oleObj name="Equation" r:id="rId3" imgW="1205977" imgH="444307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6177" y="1319348"/>
                        <a:ext cx="3423861" cy="126709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49086" y="1820483"/>
            <a:ext cx="28738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 smtClean="0"/>
              <a:t>Trước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điểm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tương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đương</a:t>
            </a:r>
            <a:endParaRPr lang="en-US" sz="24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849085" y="3730434"/>
            <a:ext cx="28738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 smtClean="0"/>
              <a:t>Sau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điểm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tương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đương</a:t>
            </a:r>
            <a:endParaRPr lang="en-US" sz="2400" b="1" dirty="0"/>
          </a:p>
        </p:txBody>
      </p:sp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5029200" y="348977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9599681"/>
              </p:ext>
            </p:extLst>
          </p:nvPr>
        </p:nvGraphicFramePr>
        <p:xfrm>
          <a:off x="5037138" y="3503613"/>
          <a:ext cx="2773362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1" name="Equation" r:id="rId5" imgW="1155600" imgH="431640" progId="Equation.3">
                  <p:embed/>
                </p:oleObj>
              </mc:Choice>
              <mc:Fallback>
                <p:oleObj name="Equation" r:id="rId5" imgW="1155600" imgH="4316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7138" y="3503613"/>
                        <a:ext cx="2773362" cy="10414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75077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E70C0-1A60-4474-B5E6-BDD6E2E946EF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524000" y="0"/>
            <a:ext cx="9144000" cy="523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n w="18000">
                  <a:solidFill>
                    <a:srgbClr val="C00000"/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Arial" pitchFamily="34" charset="0"/>
                <a:cs typeface="Arial" pitchFamily="34" charset="0"/>
                <a:sym typeface="Wingdings 2"/>
              </a:rPr>
              <a:t> </a:t>
            </a:r>
            <a:r>
              <a:rPr lang="en-US" sz="2800" b="1" dirty="0" err="1">
                <a:ln w="18000">
                  <a:solidFill>
                    <a:srgbClr val="C00000"/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Sai</a:t>
            </a:r>
            <a:r>
              <a:rPr lang="en-US" sz="2800" b="1" dirty="0">
                <a:ln w="18000">
                  <a:solidFill>
                    <a:srgbClr val="C00000"/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ln w="18000">
                  <a:solidFill>
                    <a:srgbClr val="C00000"/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số</a:t>
            </a:r>
            <a:r>
              <a:rPr lang="en-US" sz="2800" b="1" dirty="0">
                <a:ln w="18000">
                  <a:solidFill>
                    <a:srgbClr val="C00000"/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ln w="18000">
                  <a:solidFill>
                    <a:srgbClr val="C00000"/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chỉ</a:t>
            </a:r>
            <a:r>
              <a:rPr lang="en-US" sz="2800" b="1" dirty="0">
                <a:ln w="18000">
                  <a:solidFill>
                    <a:srgbClr val="C00000"/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ln w="18000">
                  <a:solidFill>
                    <a:srgbClr val="C00000"/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thị</a:t>
            </a:r>
            <a:endParaRPr lang="en-US" sz="2800" b="1" dirty="0">
              <a:ln w="18000">
                <a:solidFill>
                  <a:srgbClr val="C00000"/>
                </a:solidFill>
                <a:prstDash val="solid"/>
                <a:miter lim="800000"/>
              </a:ln>
              <a:solidFill>
                <a:srgbClr val="C00000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752600" y="547050"/>
            <a:ext cx="8686800" cy="95410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latin typeface="Arial" pitchFamily="34" charset="0"/>
                <a:cs typeface="Arial" pitchFamily="34" charset="0"/>
              </a:rPr>
              <a:t>    </a:t>
            </a:r>
            <a:r>
              <a:rPr lang="en-US" sz="2800" b="1" dirty="0" err="1">
                <a:latin typeface="Arial" pitchFamily="34" charset="0"/>
                <a:cs typeface="Arial" pitchFamily="34" charset="0"/>
              </a:rPr>
              <a:t>Tại</a:t>
            </a:r>
            <a:r>
              <a:rPr lang="en-US" sz="28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latin typeface="Arial" pitchFamily="34" charset="0"/>
                <a:cs typeface="Arial" pitchFamily="34" charset="0"/>
              </a:rPr>
              <a:t>điểm</a:t>
            </a:r>
            <a:r>
              <a:rPr lang="en-US" sz="28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latin typeface="Arial" pitchFamily="34" charset="0"/>
                <a:cs typeface="Arial" pitchFamily="34" charset="0"/>
              </a:rPr>
              <a:t>cuối</a:t>
            </a:r>
            <a:r>
              <a:rPr lang="en-US" sz="2800" b="1" dirty="0">
                <a:latin typeface="Arial" pitchFamily="34" charset="0"/>
                <a:cs typeface="Arial" pitchFamily="34" charset="0"/>
              </a:rPr>
              <a:t>, </a:t>
            </a:r>
            <a:r>
              <a:rPr lang="en-US" sz="2800" b="1" dirty="0" err="1">
                <a:latin typeface="Arial" pitchFamily="34" charset="0"/>
                <a:cs typeface="Arial" pitchFamily="34" charset="0"/>
              </a:rPr>
              <a:t>pH</a:t>
            </a:r>
            <a:r>
              <a:rPr lang="en-US" sz="2800" b="1" baseline="-25000" dirty="0" err="1">
                <a:latin typeface="Arial" pitchFamily="34" charset="0"/>
                <a:cs typeface="Arial" pitchFamily="34" charset="0"/>
              </a:rPr>
              <a:t>c</a:t>
            </a:r>
            <a:r>
              <a:rPr lang="en-US" sz="2800" b="1" dirty="0">
                <a:latin typeface="Arial" pitchFamily="34" charset="0"/>
                <a:cs typeface="Arial" pitchFamily="34" charset="0"/>
              </a:rPr>
              <a:t> = </a:t>
            </a:r>
            <a:r>
              <a:rPr lang="en-US" sz="2800" b="1" dirty="0" err="1">
                <a:latin typeface="Arial" pitchFamily="34" charset="0"/>
                <a:cs typeface="Arial" pitchFamily="34" charset="0"/>
              </a:rPr>
              <a:t>pT</a:t>
            </a:r>
            <a:r>
              <a:rPr lang="en-US" sz="28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latin typeface="Arial" pitchFamily="34" charset="0"/>
                <a:cs typeface="Arial" pitchFamily="34" charset="0"/>
              </a:rPr>
              <a:t>nên</a:t>
            </a:r>
            <a:r>
              <a:rPr lang="en-US" sz="28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latin typeface="Arial" pitchFamily="34" charset="0"/>
                <a:cs typeface="Arial" pitchFamily="34" charset="0"/>
              </a:rPr>
              <a:t>nồng</a:t>
            </a:r>
            <a:r>
              <a:rPr lang="en-US" sz="28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latin typeface="Arial" pitchFamily="34" charset="0"/>
                <a:cs typeface="Arial" pitchFamily="34" charset="0"/>
              </a:rPr>
              <a:t>độ</a:t>
            </a:r>
            <a:r>
              <a:rPr lang="en-US" sz="2800" b="1" dirty="0">
                <a:latin typeface="Arial" pitchFamily="34" charset="0"/>
                <a:cs typeface="Arial" pitchFamily="34" charset="0"/>
              </a:rPr>
              <a:t> H</a:t>
            </a:r>
            <a:r>
              <a:rPr lang="en-US" sz="2800" b="1" baseline="30000" dirty="0">
                <a:latin typeface="Arial" pitchFamily="34" charset="0"/>
                <a:cs typeface="Arial" pitchFamily="34" charset="0"/>
              </a:rPr>
              <a:t>+</a:t>
            </a:r>
            <a:r>
              <a:rPr lang="en-US" sz="28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latin typeface="Arial" pitchFamily="34" charset="0"/>
                <a:cs typeface="Arial" pitchFamily="34" charset="0"/>
              </a:rPr>
              <a:t>còn</a:t>
            </a:r>
            <a:r>
              <a:rPr lang="en-US" sz="28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latin typeface="Arial" pitchFamily="34" charset="0"/>
                <a:cs typeface="Arial" pitchFamily="34" charset="0"/>
              </a:rPr>
              <a:t>lại</a:t>
            </a:r>
            <a:r>
              <a:rPr lang="en-US" sz="28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latin typeface="Arial" pitchFamily="34" charset="0"/>
                <a:cs typeface="Arial" pitchFamily="34" charset="0"/>
              </a:rPr>
              <a:t>là</a:t>
            </a:r>
            <a:r>
              <a:rPr lang="en-US" sz="28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[H</a:t>
            </a:r>
            <a:r>
              <a:rPr lang="en-US" sz="2800" b="1" baseline="30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+</a:t>
            </a:r>
            <a:r>
              <a:rPr lang="en-US" sz="2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]</a:t>
            </a:r>
            <a:r>
              <a:rPr lang="en-US" sz="2800" b="1" baseline="-25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</a:t>
            </a:r>
            <a:r>
              <a:rPr lang="en-US" sz="2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= 10</a:t>
            </a:r>
            <a:r>
              <a:rPr lang="en-US" sz="2800" b="1" baseline="30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-pT</a:t>
            </a:r>
            <a:r>
              <a:rPr lang="en-US" sz="2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</a:t>
            </a:r>
            <a:r>
              <a:rPr lang="en-US" sz="2800" b="1" dirty="0">
                <a:latin typeface="Arial" pitchFamily="34" charset="0"/>
                <a:cs typeface="Arial" pitchFamily="34" charset="0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2600" y="1531960"/>
            <a:ext cx="8001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   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  <a:sym typeface="Wingdings 2"/>
              </a:rPr>
              <a:t> </a:t>
            </a:r>
            <a:r>
              <a:rPr lang="en-US" sz="2800" b="1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Khi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kết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thúc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chuẩn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độ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gần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ĐTĐ </a:t>
            </a:r>
            <a:r>
              <a:rPr lang="en-US" sz="2800" b="1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thì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:</a:t>
            </a:r>
          </a:p>
        </p:txBody>
      </p:sp>
      <p:graphicFrame>
        <p:nvGraphicFramePr>
          <p:cNvPr id="138242" name="Object 2"/>
          <p:cNvGraphicFramePr>
            <a:graphicFrameLocks noChangeAspect="1"/>
          </p:cNvGraphicFramePr>
          <p:nvPr/>
        </p:nvGraphicFramePr>
        <p:xfrm>
          <a:off x="3400426" y="2106613"/>
          <a:ext cx="5199063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5" name="Equation" r:id="rId3" imgW="2298600" imgH="431640" progId="Equation.3">
                  <p:embed/>
                </p:oleObj>
              </mc:Choice>
              <mc:Fallback>
                <p:oleObj name="Equation" r:id="rId3" imgW="2298600" imgH="431640" progId="Equation.3">
                  <p:embed/>
                  <p:pic>
                    <p:nvPicPr>
                      <p:cNvPr id="13824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0426" y="2106613"/>
                        <a:ext cx="5199063" cy="977900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752600" y="3235657"/>
            <a:ext cx="8001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    </a:t>
            </a:r>
            <a:r>
              <a:rPr lang="en-US" sz="2800" b="1" dirty="0">
                <a:solidFill>
                  <a:srgbClr val="7030A0"/>
                </a:solidFill>
                <a:latin typeface="Arial" pitchFamily="34" charset="0"/>
                <a:cs typeface="Arial" pitchFamily="34" charset="0"/>
                <a:sym typeface="Wingdings 2"/>
              </a:rPr>
              <a:t> </a:t>
            </a:r>
            <a:r>
              <a:rPr lang="en-US" sz="2800" b="1" dirty="0" err="1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Khi</a:t>
            </a:r>
            <a:r>
              <a:rPr lang="en-US" sz="2800" b="1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kết</a:t>
            </a:r>
            <a:r>
              <a:rPr lang="en-US" sz="2800" b="1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thúc</a:t>
            </a:r>
            <a:r>
              <a:rPr lang="en-US" sz="2800" b="1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chuẩn</a:t>
            </a:r>
            <a:r>
              <a:rPr lang="en-US" sz="2800" b="1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độ</a:t>
            </a:r>
            <a:r>
              <a:rPr lang="en-US" sz="2800" b="1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trước</a:t>
            </a:r>
            <a:r>
              <a:rPr lang="en-US" sz="2800" b="1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 ĐTĐ </a:t>
            </a:r>
            <a:r>
              <a:rPr lang="en-US" sz="2800" b="1" dirty="0" err="1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thì</a:t>
            </a:r>
            <a:r>
              <a:rPr lang="en-US" sz="2800" b="1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:</a:t>
            </a:r>
          </a:p>
        </p:txBody>
      </p:sp>
      <p:sp>
        <p:nvSpPr>
          <p:cNvPr id="138244" name="Rectangle 4"/>
          <p:cNvSpPr>
            <a:spLocks noChangeArrowheads="1"/>
          </p:cNvSpPr>
          <p:nvPr/>
        </p:nvSpPr>
        <p:spPr bwMode="auto">
          <a:xfrm>
            <a:off x="1524002" y="0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38243" name="Object 3"/>
          <p:cNvGraphicFramePr>
            <a:graphicFrameLocks noChangeAspect="1"/>
          </p:cNvGraphicFramePr>
          <p:nvPr/>
        </p:nvGraphicFramePr>
        <p:xfrm>
          <a:off x="4619627" y="3886202"/>
          <a:ext cx="2724151" cy="100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6" name="Equation" r:id="rId5" imgW="1206360" imgH="431640" progId="Equation.3">
                  <p:embed/>
                </p:oleObj>
              </mc:Choice>
              <mc:Fallback>
                <p:oleObj name="Equation" r:id="rId5" imgW="1206360" imgH="431640" progId="Equation.3">
                  <p:embed/>
                  <p:pic>
                    <p:nvPicPr>
                      <p:cNvPr id="13824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9627" y="3886202"/>
                        <a:ext cx="2724151" cy="1001713"/>
                      </a:xfrm>
                      <a:prstGeom prst="rect">
                        <a:avLst/>
                      </a:prstGeom>
                      <a:solidFill>
                        <a:srgbClr val="CC99F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752600" y="4988257"/>
            <a:ext cx="8001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   </a:t>
            </a: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  <a:sym typeface="Wingdings 2"/>
              </a:rPr>
              <a:t> </a:t>
            </a:r>
            <a:r>
              <a:rPr lang="en-US" sz="28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Khi</a:t>
            </a: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kết</a:t>
            </a: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thúc</a:t>
            </a: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chuẩn</a:t>
            </a: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độ</a:t>
            </a: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sau</a:t>
            </a: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ĐTĐ </a:t>
            </a:r>
            <a:r>
              <a:rPr lang="en-US" sz="28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thì</a:t>
            </a: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:</a:t>
            </a:r>
          </a:p>
        </p:txBody>
      </p:sp>
      <p:sp>
        <p:nvSpPr>
          <p:cNvPr id="138246" name="Rectangle 6"/>
          <p:cNvSpPr>
            <a:spLocks noChangeArrowheads="1"/>
          </p:cNvSpPr>
          <p:nvPr/>
        </p:nvSpPr>
        <p:spPr bwMode="auto">
          <a:xfrm>
            <a:off x="1524002" y="0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38245" name="Object 5"/>
          <p:cNvGraphicFramePr>
            <a:graphicFrameLocks noChangeAspect="1"/>
          </p:cNvGraphicFramePr>
          <p:nvPr/>
        </p:nvGraphicFramePr>
        <p:xfrm>
          <a:off x="4767266" y="5604206"/>
          <a:ext cx="2624137" cy="9774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7" name="Equation" r:id="rId7" imgW="1193760" imgH="431640" progId="Equation.3">
                  <p:embed/>
                </p:oleObj>
              </mc:Choice>
              <mc:Fallback>
                <p:oleObj name="Equation" r:id="rId7" imgW="1193760" imgH="431640" progId="Equation.3">
                  <p:embed/>
                  <p:pic>
                    <p:nvPicPr>
                      <p:cNvPr id="13824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7266" y="5604206"/>
                        <a:ext cx="2624137" cy="977484"/>
                      </a:xfrm>
                      <a:prstGeom prst="rect">
                        <a:avLst/>
                      </a:prstGeom>
                      <a:solidFill>
                        <a:srgbClr val="C0C0C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9220200" y="2286001"/>
            <a:ext cx="1219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(3.31)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20200" y="4124980"/>
            <a:ext cx="1219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(3.32)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20200" y="5791201"/>
            <a:ext cx="1219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(3.33)</a:t>
            </a:r>
          </a:p>
        </p:txBody>
      </p:sp>
    </p:spTree>
    <p:extLst>
      <p:ext uri="{BB962C8B-B14F-4D97-AF65-F5344CB8AC3E}">
        <p14:creationId xmlns:p14="http://schemas.microsoft.com/office/powerpoint/2010/main" val="2155013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E70C0-1A60-4474-B5E6-BDD6E2E946EF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524000" y="2"/>
            <a:ext cx="9144000" cy="129266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just" defTabSz="358775">
              <a:lnSpc>
                <a:spcPct val="150000"/>
              </a:lnSpc>
            </a:pPr>
            <a:r>
              <a:rPr lang="en-US" sz="2600" b="1" dirty="0">
                <a:latin typeface="Arial" pitchFamily="34" charset="0"/>
                <a:cs typeface="Arial" pitchFamily="34" charset="0"/>
              </a:rPr>
              <a:t>3. </a:t>
            </a:r>
            <a:r>
              <a:rPr lang="vi-VN" sz="2600" b="1" dirty="0">
                <a:latin typeface="Arial" pitchFamily="34" charset="0"/>
                <a:cs typeface="Arial" pitchFamily="34" charset="0"/>
              </a:rPr>
              <a:t>Chia quá trình chuẩn </a:t>
            </a:r>
            <a:r>
              <a:rPr lang="vi-VN" sz="2600" b="1" dirty="0" smtClean="0">
                <a:latin typeface="Arial" pitchFamily="34" charset="0"/>
                <a:cs typeface="Arial" pitchFamily="34" charset="0"/>
              </a:rPr>
              <a:t>độ</a:t>
            </a:r>
            <a:r>
              <a:rPr lang="en-US" sz="2600" b="1" dirty="0" smtClean="0">
                <a:latin typeface="Arial" pitchFamily="34" charset="0"/>
                <a:cs typeface="Arial" pitchFamily="34" charset="0"/>
              </a:rPr>
              <a:t> acid </a:t>
            </a:r>
            <a:r>
              <a:rPr lang="en-US" sz="2600" b="1" dirty="0" err="1" smtClean="0">
                <a:latin typeface="Arial" pitchFamily="34" charset="0"/>
                <a:cs typeface="Arial" pitchFamily="34" charset="0"/>
              </a:rPr>
              <a:t>yếu</a:t>
            </a:r>
            <a:r>
              <a:rPr lang="en-US" sz="26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600" b="1" dirty="0" err="1" smtClean="0">
                <a:latin typeface="Arial" pitchFamily="34" charset="0"/>
                <a:cs typeface="Arial" pitchFamily="34" charset="0"/>
              </a:rPr>
              <a:t>bằng</a:t>
            </a:r>
            <a:r>
              <a:rPr lang="en-US" sz="2600" b="1" dirty="0" smtClean="0">
                <a:latin typeface="Arial" pitchFamily="34" charset="0"/>
                <a:cs typeface="Arial" pitchFamily="34" charset="0"/>
              </a:rPr>
              <a:t> base </a:t>
            </a:r>
            <a:r>
              <a:rPr lang="en-US" sz="2600" b="1" dirty="0" err="1" smtClean="0">
                <a:latin typeface="Arial" pitchFamily="34" charset="0"/>
                <a:cs typeface="Arial" pitchFamily="34" charset="0"/>
              </a:rPr>
              <a:t>mạnh</a:t>
            </a:r>
            <a:r>
              <a:rPr lang="en-US" sz="26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vi-VN" sz="26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vi-VN" sz="2600" b="1" dirty="0">
                <a:latin typeface="Arial" pitchFamily="34" charset="0"/>
                <a:cs typeface="Arial" pitchFamily="34" charset="0"/>
              </a:rPr>
              <a:t>thành các trường hợp cụ thể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9623192"/>
              </p:ext>
            </p:extLst>
          </p:nvPr>
        </p:nvGraphicFramePr>
        <p:xfrm>
          <a:off x="1648099" y="1502214"/>
          <a:ext cx="8686801" cy="5068727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23268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75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24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37260">
                <a:tc>
                  <a:txBody>
                    <a:bodyPr/>
                    <a:lstStyle/>
                    <a:p>
                      <a:pPr algn="ctr"/>
                      <a:r>
                        <a:rPr lang="en-US" sz="2800" b="1" cap="none" spc="0" dirty="0" smtClean="0">
                          <a:ln w="10541" cmpd="sng">
                            <a:solidFill>
                              <a:schemeClr val="accent1">
                                <a:shade val="88000"/>
                                <a:satMod val="110000"/>
                              </a:schemeClr>
                            </a:solidFill>
                            <a:prstDash val="solid"/>
                          </a:ln>
                          <a:gradFill>
                            <a:gsLst>
                              <a:gs pos="0">
                                <a:schemeClr val="accent1">
                                  <a:tint val="40000"/>
                                  <a:satMod val="250000"/>
                                </a:schemeClr>
                              </a:gs>
                              <a:gs pos="9000">
                                <a:schemeClr val="accent1">
                                  <a:tint val="52000"/>
                                  <a:satMod val="300000"/>
                                </a:schemeClr>
                              </a:gs>
                              <a:gs pos="50000">
                                <a:schemeClr val="accent1">
                                  <a:shade val="20000"/>
                                  <a:satMod val="300000"/>
                                </a:schemeClr>
                              </a:gs>
                              <a:gs pos="79000">
                                <a:schemeClr val="accent1">
                                  <a:tint val="52000"/>
                                  <a:satMod val="300000"/>
                                </a:schemeClr>
                              </a:gs>
                              <a:gs pos="100000">
                                <a:schemeClr val="accent1">
                                  <a:tint val="40000"/>
                                  <a:satMod val="250000"/>
                                </a:schemeClr>
                              </a:gs>
                            </a:gsLst>
                            <a:lin ang="5400000"/>
                          </a:gradFill>
                          <a:effectLst/>
                          <a:latin typeface="Arial" pitchFamily="34" charset="0"/>
                          <a:cs typeface="Arial" pitchFamily="34" charset="0"/>
                        </a:rPr>
                        <a:t>V (ml)</a:t>
                      </a:r>
                      <a:endParaRPr lang="en-US" sz="2800" b="1" cap="none" spc="0" dirty="0">
                        <a:ln w="10541" cmpd="sng">
                          <a:solidFill>
                            <a:schemeClr val="accent1">
                              <a:shade val="88000"/>
                              <a:satMod val="110000"/>
                            </a:schemeClr>
                          </a:solidFill>
                          <a:prstDash val="solid"/>
                        </a:ln>
                        <a:gradFill>
                          <a:gsLst>
                            <a:gs pos="0">
                              <a:schemeClr val="accent1">
                                <a:tint val="40000"/>
                                <a:satMod val="250000"/>
                              </a:schemeClr>
                            </a:gs>
                            <a:gs pos="9000">
                              <a:schemeClr val="accent1">
                                <a:tint val="52000"/>
                                <a:satMod val="300000"/>
                              </a:schemeClr>
                            </a:gs>
                            <a:gs pos="50000">
                              <a:schemeClr val="accent1">
                                <a:shade val="20000"/>
                                <a:satMod val="300000"/>
                              </a:schemeClr>
                            </a:gs>
                            <a:gs pos="79000">
                              <a:schemeClr val="accent1">
                                <a:tint val="52000"/>
                                <a:satMod val="300000"/>
                              </a:schemeClr>
                            </a:gs>
                            <a:gs pos="100000">
                              <a:schemeClr val="accent1">
                                <a:tint val="40000"/>
                                <a:satMod val="250000"/>
                              </a:schemeClr>
                            </a:gs>
                          </a:gsLst>
                          <a:lin ang="5400000"/>
                        </a:gra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cap="none" spc="0" dirty="0" smtClean="0">
                          <a:ln w="10541" cmpd="sng">
                            <a:solidFill>
                              <a:schemeClr val="accent1">
                                <a:shade val="88000"/>
                                <a:satMod val="110000"/>
                              </a:schemeClr>
                            </a:solidFill>
                            <a:prstDash val="solid"/>
                          </a:ln>
                          <a:gradFill>
                            <a:gsLst>
                              <a:gs pos="0">
                                <a:schemeClr val="accent1">
                                  <a:tint val="40000"/>
                                  <a:satMod val="250000"/>
                                </a:schemeClr>
                              </a:gs>
                              <a:gs pos="9000">
                                <a:schemeClr val="accent1">
                                  <a:tint val="52000"/>
                                  <a:satMod val="300000"/>
                                </a:schemeClr>
                              </a:gs>
                              <a:gs pos="50000">
                                <a:schemeClr val="accent1">
                                  <a:shade val="20000"/>
                                  <a:satMod val="300000"/>
                                </a:schemeClr>
                              </a:gs>
                              <a:gs pos="79000">
                                <a:schemeClr val="accent1">
                                  <a:tint val="52000"/>
                                  <a:satMod val="300000"/>
                                </a:schemeClr>
                              </a:gs>
                              <a:gs pos="100000">
                                <a:schemeClr val="accent1">
                                  <a:tint val="40000"/>
                                  <a:satMod val="250000"/>
                                </a:schemeClr>
                              </a:gs>
                            </a:gsLst>
                            <a:lin ang="5400000"/>
                          </a:gradFill>
                          <a:effectLst/>
                          <a:latin typeface="Arial" pitchFamily="34" charset="0"/>
                          <a:cs typeface="Arial" pitchFamily="34" charset="0"/>
                        </a:rPr>
                        <a:t>Dung </a:t>
                      </a:r>
                      <a:r>
                        <a:rPr lang="en-US" sz="2800" b="1" cap="none" spc="0" dirty="0" err="1" smtClean="0">
                          <a:ln w="10541" cmpd="sng">
                            <a:solidFill>
                              <a:schemeClr val="accent1">
                                <a:shade val="88000"/>
                                <a:satMod val="110000"/>
                              </a:schemeClr>
                            </a:solidFill>
                            <a:prstDash val="solid"/>
                          </a:ln>
                          <a:gradFill>
                            <a:gsLst>
                              <a:gs pos="0">
                                <a:schemeClr val="accent1">
                                  <a:tint val="40000"/>
                                  <a:satMod val="250000"/>
                                </a:schemeClr>
                              </a:gs>
                              <a:gs pos="9000">
                                <a:schemeClr val="accent1">
                                  <a:tint val="52000"/>
                                  <a:satMod val="300000"/>
                                </a:schemeClr>
                              </a:gs>
                              <a:gs pos="50000">
                                <a:schemeClr val="accent1">
                                  <a:shade val="20000"/>
                                  <a:satMod val="300000"/>
                                </a:schemeClr>
                              </a:gs>
                              <a:gs pos="79000">
                                <a:schemeClr val="accent1">
                                  <a:tint val="52000"/>
                                  <a:satMod val="300000"/>
                                </a:schemeClr>
                              </a:gs>
                              <a:gs pos="100000">
                                <a:schemeClr val="accent1">
                                  <a:tint val="40000"/>
                                  <a:satMod val="250000"/>
                                </a:schemeClr>
                              </a:gs>
                            </a:gsLst>
                            <a:lin ang="5400000"/>
                          </a:gradFill>
                          <a:effectLst/>
                          <a:latin typeface="Arial" pitchFamily="34" charset="0"/>
                          <a:cs typeface="Arial" pitchFamily="34" charset="0"/>
                        </a:rPr>
                        <a:t>dịch</a:t>
                      </a:r>
                      <a:endParaRPr lang="en-US" sz="2800" b="1" cap="none" spc="0" dirty="0">
                        <a:ln w="10541" cmpd="sng">
                          <a:solidFill>
                            <a:schemeClr val="accent1">
                              <a:shade val="88000"/>
                              <a:satMod val="110000"/>
                            </a:schemeClr>
                          </a:solidFill>
                          <a:prstDash val="solid"/>
                        </a:ln>
                        <a:gradFill>
                          <a:gsLst>
                            <a:gs pos="0">
                              <a:schemeClr val="accent1">
                                <a:tint val="40000"/>
                                <a:satMod val="250000"/>
                              </a:schemeClr>
                            </a:gs>
                            <a:gs pos="9000">
                              <a:schemeClr val="accent1">
                                <a:tint val="52000"/>
                                <a:satMod val="300000"/>
                              </a:schemeClr>
                            </a:gs>
                            <a:gs pos="50000">
                              <a:schemeClr val="accent1">
                                <a:shade val="20000"/>
                                <a:satMod val="300000"/>
                              </a:schemeClr>
                            </a:gs>
                            <a:gs pos="79000">
                              <a:schemeClr val="accent1">
                                <a:tint val="52000"/>
                                <a:satMod val="300000"/>
                              </a:schemeClr>
                            </a:gs>
                            <a:gs pos="100000">
                              <a:schemeClr val="accent1">
                                <a:tint val="40000"/>
                                <a:satMod val="250000"/>
                              </a:schemeClr>
                            </a:gs>
                          </a:gsLst>
                          <a:lin ang="5400000"/>
                        </a:gra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cap="none" spc="0" dirty="0" smtClean="0">
                          <a:ln w="10541" cmpd="sng">
                            <a:solidFill>
                              <a:schemeClr val="accent1">
                                <a:shade val="88000"/>
                                <a:satMod val="110000"/>
                              </a:schemeClr>
                            </a:solidFill>
                            <a:prstDash val="solid"/>
                          </a:ln>
                          <a:gradFill>
                            <a:gsLst>
                              <a:gs pos="0">
                                <a:schemeClr val="accent1">
                                  <a:tint val="40000"/>
                                  <a:satMod val="250000"/>
                                </a:schemeClr>
                              </a:gs>
                              <a:gs pos="9000">
                                <a:schemeClr val="accent1">
                                  <a:tint val="52000"/>
                                  <a:satMod val="300000"/>
                                </a:schemeClr>
                              </a:gs>
                              <a:gs pos="50000">
                                <a:schemeClr val="accent1">
                                  <a:shade val="20000"/>
                                  <a:satMod val="300000"/>
                                </a:schemeClr>
                              </a:gs>
                              <a:gs pos="79000">
                                <a:schemeClr val="accent1">
                                  <a:tint val="52000"/>
                                  <a:satMod val="300000"/>
                                </a:schemeClr>
                              </a:gs>
                              <a:gs pos="100000">
                                <a:schemeClr val="accent1">
                                  <a:tint val="40000"/>
                                  <a:satMod val="250000"/>
                                </a:schemeClr>
                              </a:gs>
                            </a:gsLst>
                            <a:lin ang="5400000"/>
                          </a:gradFill>
                          <a:effectLst/>
                          <a:latin typeface="Arial" pitchFamily="34" charset="0"/>
                          <a:cs typeface="Arial" pitchFamily="34" charset="0"/>
                        </a:rPr>
                        <a:t>pH</a:t>
                      </a:r>
                      <a:endParaRPr lang="en-US" sz="2800" b="1" cap="none" spc="0" dirty="0">
                        <a:ln w="10541" cmpd="sng">
                          <a:solidFill>
                            <a:schemeClr val="accent1">
                              <a:shade val="88000"/>
                              <a:satMod val="110000"/>
                            </a:schemeClr>
                          </a:solidFill>
                          <a:prstDash val="solid"/>
                        </a:ln>
                        <a:gradFill>
                          <a:gsLst>
                            <a:gs pos="0">
                              <a:schemeClr val="accent1">
                                <a:tint val="40000"/>
                                <a:satMod val="250000"/>
                              </a:schemeClr>
                            </a:gs>
                            <a:gs pos="9000">
                              <a:schemeClr val="accent1">
                                <a:tint val="52000"/>
                                <a:satMod val="300000"/>
                              </a:schemeClr>
                            </a:gs>
                            <a:gs pos="50000">
                              <a:schemeClr val="accent1">
                                <a:shade val="20000"/>
                                <a:satMod val="300000"/>
                              </a:schemeClr>
                            </a:gs>
                            <a:gs pos="79000">
                              <a:schemeClr val="accent1">
                                <a:tint val="52000"/>
                                <a:satMod val="300000"/>
                              </a:schemeClr>
                            </a:gs>
                            <a:gs pos="100000">
                              <a:schemeClr val="accent1">
                                <a:tint val="40000"/>
                                <a:satMod val="250000"/>
                              </a:schemeClr>
                            </a:gs>
                          </a:gsLst>
                          <a:lin ang="5400000"/>
                        </a:gra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9793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smtClean="0"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  <a:endParaRPr lang="en-US" sz="28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800" b="1" dirty="0" smtClean="0">
                          <a:latin typeface="Arial" pitchFamily="34" charset="0"/>
                          <a:cs typeface="Arial" pitchFamily="34" charset="0"/>
                        </a:rPr>
                        <a:t>Acid </a:t>
                      </a:r>
                      <a:r>
                        <a:rPr lang="en-US" sz="2800" b="1" dirty="0" err="1" smtClean="0">
                          <a:latin typeface="Arial" pitchFamily="34" charset="0"/>
                          <a:cs typeface="Arial" pitchFamily="34" charset="0"/>
                        </a:rPr>
                        <a:t>yếu</a:t>
                      </a:r>
                      <a:endParaRPr lang="en-US" sz="28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vi-VN" sz="2800" b="1" spc="100" dirty="0" smtClean="0">
                        <a:ln w="18000">
                          <a:solidFill>
                            <a:schemeClr val="tx1"/>
                          </a:solidFill>
                          <a:prstDash val="solid"/>
                        </a:ln>
                        <a:effectLst>
                          <a:outerShdw blurRad="25000" dist="20000" dir="16020000" algn="tl">
                            <a:schemeClr val="accent1">
                              <a:satMod val="200000"/>
                              <a:shade val="1000"/>
                              <a:alpha val="60000"/>
                            </a:schemeClr>
                          </a:outerShdw>
                        </a:effectLst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3905">
                <a:tc>
                  <a:txBody>
                    <a:bodyPr/>
                    <a:lstStyle/>
                    <a:p>
                      <a:pPr algn="ctr"/>
                      <a:r>
                        <a:rPr lang="en-US" sz="2800" b="1" u="none" dirty="0" smtClean="0">
                          <a:latin typeface="Arial" pitchFamily="34" charset="0"/>
                          <a:cs typeface="Arial" pitchFamily="34" charset="0"/>
                        </a:rPr>
                        <a:t>0 &lt; V &lt; </a:t>
                      </a:r>
                      <a:r>
                        <a:rPr lang="vi-VN" sz="2800" b="1" u="none" dirty="0" smtClean="0">
                          <a:latin typeface="Arial" pitchFamily="34" charset="0"/>
                          <a:cs typeface="Arial" pitchFamily="34" charset="0"/>
                        </a:rPr>
                        <a:t>V</a:t>
                      </a:r>
                      <a:r>
                        <a:rPr lang="vi-VN" sz="2800" b="1" u="none" baseline="-30000" dirty="0" smtClean="0">
                          <a:latin typeface="Arial" pitchFamily="34" charset="0"/>
                          <a:cs typeface="Arial" pitchFamily="34" charset="0"/>
                        </a:rPr>
                        <a:t>tđ </a:t>
                      </a:r>
                      <a:endParaRPr lang="en-US" sz="2800" b="1" u="none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800" b="1" dirty="0" err="1" smtClean="0">
                          <a:latin typeface="Arial" pitchFamily="34" charset="0"/>
                          <a:cs typeface="Arial" pitchFamily="34" charset="0"/>
                        </a:rPr>
                        <a:t>Đệm</a:t>
                      </a:r>
                      <a:endParaRPr lang="en-US" sz="28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8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3495">
                <a:tc>
                  <a:txBody>
                    <a:bodyPr/>
                    <a:lstStyle/>
                    <a:p>
                      <a:pPr algn="ctr"/>
                      <a:r>
                        <a:rPr lang="vi-VN" sz="2800" b="1" dirty="0" smtClean="0">
                          <a:latin typeface="Arial" pitchFamily="34" charset="0"/>
                          <a:cs typeface="Arial" pitchFamily="34" charset="0"/>
                        </a:rPr>
                        <a:t>V = V</a:t>
                      </a:r>
                      <a:r>
                        <a:rPr lang="vi-VN" sz="2800" b="1" baseline="-30000" dirty="0" smtClean="0">
                          <a:latin typeface="Arial" pitchFamily="34" charset="0"/>
                          <a:cs typeface="Arial" pitchFamily="34" charset="0"/>
                        </a:rPr>
                        <a:t>tđ</a:t>
                      </a:r>
                      <a:r>
                        <a:rPr lang="en-US" sz="2800" b="1" baseline="-30000" dirty="0" smtClean="0"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endParaRPr lang="en-US" sz="28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800" b="1" dirty="0" smtClean="0">
                          <a:latin typeface="Arial" pitchFamily="34" charset="0"/>
                          <a:cs typeface="Arial" pitchFamily="34" charset="0"/>
                        </a:rPr>
                        <a:t>Base </a:t>
                      </a:r>
                      <a:r>
                        <a:rPr lang="en-US" sz="2800" b="1" dirty="0" err="1" smtClean="0">
                          <a:latin typeface="Arial" pitchFamily="34" charset="0"/>
                          <a:cs typeface="Arial" pitchFamily="34" charset="0"/>
                        </a:rPr>
                        <a:t>yếu</a:t>
                      </a:r>
                      <a:endParaRPr lang="en-US" sz="28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04274">
                <a:tc>
                  <a:txBody>
                    <a:bodyPr/>
                    <a:lstStyle/>
                    <a:p>
                      <a:pPr algn="ctr"/>
                      <a:r>
                        <a:rPr lang="vi-VN" sz="2800" b="1" dirty="0" smtClean="0">
                          <a:latin typeface="Arial" pitchFamily="34" charset="0"/>
                          <a:cs typeface="Arial" pitchFamily="34" charset="0"/>
                        </a:rPr>
                        <a:t>V </a:t>
                      </a:r>
                      <a:r>
                        <a:rPr lang="en-US" sz="2800" b="1" dirty="0" smtClean="0">
                          <a:latin typeface="Arial" pitchFamily="34" charset="0"/>
                          <a:cs typeface="Arial" pitchFamily="34" charset="0"/>
                        </a:rPr>
                        <a:t>&gt;</a:t>
                      </a:r>
                      <a:r>
                        <a:rPr lang="vi-VN" sz="2800" b="1" dirty="0" smtClean="0">
                          <a:latin typeface="Arial" pitchFamily="34" charset="0"/>
                          <a:cs typeface="Arial" pitchFamily="34" charset="0"/>
                        </a:rPr>
                        <a:t> V</a:t>
                      </a:r>
                      <a:r>
                        <a:rPr lang="vi-VN" sz="2800" b="1" baseline="-30000" dirty="0" smtClean="0">
                          <a:latin typeface="Arial" pitchFamily="34" charset="0"/>
                          <a:cs typeface="Arial" pitchFamily="34" charset="0"/>
                        </a:rPr>
                        <a:t>tđ</a:t>
                      </a:r>
                      <a:r>
                        <a:rPr lang="en-US" sz="2800" b="1" baseline="-30000" dirty="0" smtClean="0"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endParaRPr lang="en-US" sz="28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800" b="1" dirty="0" smtClean="0">
                          <a:latin typeface="Arial" pitchFamily="34" charset="0"/>
                          <a:cs typeface="Arial" pitchFamily="34" charset="0"/>
                        </a:rPr>
                        <a:t>Base </a:t>
                      </a:r>
                      <a:r>
                        <a:rPr lang="en-US" sz="2800" b="1" dirty="0" err="1" smtClean="0">
                          <a:latin typeface="Arial" pitchFamily="34" charset="0"/>
                          <a:cs typeface="Arial" pitchFamily="34" charset="0"/>
                        </a:rPr>
                        <a:t>mạnh</a:t>
                      </a:r>
                      <a:endParaRPr lang="en-US" sz="28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8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5872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9589928"/>
              </p:ext>
            </p:extLst>
          </p:nvPr>
        </p:nvGraphicFramePr>
        <p:xfrm>
          <a:off x="6997116" y="2452907"/>
          <a:ext cx="2564823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2" name="Equation" r:id="rId3" imgW="1104840" imgH="393480" progId="Equation.3">
                  <p:embed/>
                </p:oleObj>
              </mc:Choice>
              <mc:Fallback>
                <p:oleObj name="Equation" r:id="rId3" imgW="1104840" imgH="393480" progId="Equation.3">
                  <p:embed/>
                  <p:pic>
                    <p:nvPicPr>
                      <p:cNvPr id="15872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97116" y="2452907"/>
                        <a:ext cx="2564823" cy="914400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872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5660604"/>
              </p:ext>
            </p:extLst>
          </p:nvPr>
        </p:nvGraphicFramePr>
        <p:xfrm>
          <a:off x="6705600" y="3426072"/>
          <a:ext cx="3276600" cy="9856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3" name="Equation" r:id="rId5" imgW="1409400" imgH="393480" progId="Equation.3">
                  <p:embed/>
                </p:oleObj>
              </mc:Choice>
              <mc:Fallback>
                <p:oleObj name="Equation" r:id="rId5" imgW="1409400" imgH="393480" progId="Equation.3">
                  <p:embed/>
                  <p:pic>
                    <p:nvPicPr>
                      <p:cNvPr id="15872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3426072"/>
                        <a:ext cx="3276600" cy="985620"/>
                      </a:xfrm>
                      <a:prstGeom prst="rect">
                        <a:avLst/>
                      </a:prstGeom>
                      <a:solidFill>
                        <a:srgbClr val="CC99F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872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7698761"/>
              </p:ext>
            </p:extLst>
          </p:nvPr>
        </p:nvGraphicFramePr>
        <p:xfrm>
          <a:off x="6422036" y="4443721"/>
          <a:ext cx="3978275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4" name="Equation" r:id="rId7" imgW="1854000" imgH="431640" progId="Equation.3">
                  <p:embed/>
                </p:oleObj>
              </mc:Choice>
              <mc:Fallback>
                <p:oleObj name="Equation" r:id="rId7" imgW="1854000" imgH="431640" progId="Equation.3">
                  <p:embed/>
                  <p:pic>
                    <p:nvPicPr>
                      <p:cNvPr id="15872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2036" y="4443721"/>
                        <a:ext cx="3978275" cy="927100"/>
                      </a:xfrm>
                      <a:prstGeom prst="rect">
                        <a:avLst/>
                      </a:prstGeom>
                      <a:solidFill>
                        <a:srgbClr val="FFCC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872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3550228"/>
              </p:ext>
            </p:extLst>
          </p:nvPr>
        </p:nvGraphicFramePr>
        <p:xfrm>
          <a:off x="7016749" y="5559424"/>
          <a:ext cx="2965451" cy="979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5" name="Equation" r:id="rId9" imgW="1307880" imgH="431640" progId="Equation.3">
                  <p:embed/>
                </p:oleObj>
              </mc:Choice>
              <mc:Fallback>
                <p:oleObj name="Equation" r:id="rId9" imgW="1307880" imgH="431640" progId="Equation.3">
                  <p:embed/>
                  <p:pic>
                    <p:nvPicPr>
                      <p:cNvPr id="15872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6749" y="5559424"/>
                        <a:ext cx="2965451" cy="979488"/>
                      </a:xfrm>
                      <a:prstGeom prst="rect">
                        <a:avLst/>
                      </a:prstGeom>
                      <a:solidFill>
                        <a:srgbClr val="00FF00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70938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9703-E561-4075-8751-9EACA4CC3763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533940" y="9940"/>
            <a:ext cx="9134060" cy="95410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Arial"/>
                <a:cs typeface="Arial"/>
              </a:rPr>
              <a:t>TÍNH THẾ TRONG DUNG </a:t>
            </a:r>
            <a:r>
              <a:rPr lang="en-US" sz="2800" b="1" dirty="0" smtClean="0">
                <a:latin typeface="Arial"/>
                <a:cs typeface="Arial"/>
              </a:rPr>
              <a:t>DỊCH CHO PHẢN ỨNG OXY HÓA –KHỬ</a:t>
            </a:r>
            <a:endParaRPr lang="en-US" sz="28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98172" y="1023005"/>
            <a:ext cx="853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latin typeface="Arial" pitchFamily="34" charset="0"/>
                <a:cs typeface="Arial" pitchFamily="34" charset="0"/>
              </a:rPr>
              <a:t>Việc</a:t>
            </a:r>
            <a:r>
              <a:rPr lang="en-US" sz="28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latin typeface="Arial" pitchFamily="34" charset="0"/>
                <a:cs typeface="Arial" pitchFamily="34" charset="0"/>
              </a:rPr>
              <a:t>tính</a:t>
            </a:r>
            <a:r>
              <a:rPr lang="en-US" sz="28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latin typeface="Arial" pitchFamily="34" charset="0"/>
                <a:cs typeface="Arial" pitchFamily="34" charset="0"/>
              </a:rPr>
              <a:t>thế</a:t>
            </a:r>
            <a:r>
              <a:rPr lang="en-US" sz="28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latin typeface="Arial" pitchFamily="34" charset="0"/>
                <a:cs typeface="Arial" pitchFamily="34" charset="0"/>
              </a:rPr>
              <a:t>có</a:t>
            </a:r>
            <a:r>
              <a:rPr lang="en-US" sz="28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latin typeface="Arial" pitchFamily="34" charset="0"/>
                <a:cs typeface="Arial" pitchFamily="34" charset="0"/>
              </a:rPr>
              <a:t>thể</a:t>
            </a:r>
            <a:r>
              <a:rPr lang="en-US" sz="28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latin typeface="Arial" pitchFamily="34" charset="0"/>
                <a:cs typeface="Arial" pitchFamily="34" charset="0"/>
              </a:rPr>
              <a:t>tóm</a:t>
            </a:r>
            <a:r>
              <a:rPr lang="en-US" sz="28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latin typeface="Arial" pitchFamily="34" charset="0"/>
                <a:cs typeface="Arial" pitchFamily="34" charset="0"/>
              </a:rPr>
              <a:t>tắt</a:t>
            </a:r>
            <a:r>
              <a:rPr lang="en-US" sz="28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latin typeface="Arial" pitchFamily="34" charset="0"/>
                <a:cs typeface="Arial" pitchFamily="34" charset="0"/>
              </a:rPr>
              <a:t>như</a:t>
            </a:r>
            <a:r>
              <a:rPr lang="en-US" sz="28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latin typeface="Arial" pitchFamily="34" charset="0"/>
                <a:cs typeface="Arial" pitchFamily="34" charset="0"/>
              </a:rPr>
              <a:t>sau</a:t>
            </a:r>
            <a:r>
              <a:rPr lang="en-US" sz="2800" b="1" dirty="0">
                <a:latin typeface="Arial" pitchFamily="34" charset="0"/>
                <a:cs typeface="Arial" pitchFamily="34" charset="0"/>
              </a:rPr>
              <a:t>:</a:t>
            </a:r>
          </a:p>
        </p:txBody>
      </p:sp>
      <p:graphicFrame>
        <p:nvGraphicFramePr>
          <p:cNvPr id="6" name="Group 2"/>
          <p:cNvGraphicFramePr>
            <a:graphicFrameLocks noGrp="1"/>
          </p:cNvGraphicFramePr>
          <p:nvPr>
            <p:extLst/>
          </p:nvPr>
        </p:nvGraphicFramePr>
        <p:xfrm>
          <a:off x="2057400" y="1676400"/>
          <a:ext cx="8458200" cy="4419600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5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9619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Thời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điểm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Công</a:t>
                      </a: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thức</a:t>
                      </a: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tính</a:t>
                      </a: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 E </a:t>
                      </a:r>
                      <a:r>
                        <a:rPr kumimoji="0" lang="en-US" sz="2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trong</a:t>
                      </a: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quá</a:t>
                      </a: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trình</a:t>
                      </a: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chuẩn</a:t>
                      </a: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độ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66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 &lt; F &lt; 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vi-V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385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 = 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vi-V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82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 &gt; 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vi-V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5298" name="Object 2"/>
          <p:cNvGraphicFramePr>
            <a:graphicFrameLocks noChangeAspect="1"/>
          </p:cNvGraphicFramePr>
          <p:nvPr/>
        </p:nvGraphicFramePr>
        <p:xfrm>
          <a:off x="4668838" y="5029200"/>
          <a:ext cx="4551362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4" name="Equation" r:id="rId3" imgW="1841400" imgH="393480" progId="Equation.3">
                  <p:embed/>
                </p:oleObj>
              </mc:Choice>
              <mc:Fallback>
                <p:oleObj name="Equation" r:id="rId3" imgW="1841400" imgH="393480" progId="Equation.3">
                  <p:embed/>
                  <p:pic>
                    <p:nvPicPr>
                      <p:cNvPr id="5529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8838" y="5029200"/>
                        <a:ext cx="4551362" cy="971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299" name="Object 3"/>
          <p:cNvGraphicFramePr>
            <a:graphicFrameLocks noChangeAspect="1"/>
          </p:cNvGraphicFramePr>
          <p:nvPr/>
        </p:nvGraphicFramePr>
        <p:xfrm>
          <a:off x="4671392" y="3810001"/>
          <a:ext cx="4343400" cy="1127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5" name="Equation" r:id="rId5" imgW="1663560" imgH="431640" progId="Equation.3">
                  <p:embed/>
                </p:oleObj>
              </mc:Choice>
              <mc:Fallback>
                <p:oleObj name="Equation" r:id="rId5" imgW="1663560" imgH="431640" progId="Equation.3">
                  <p:embed/>
                  <p:pic>
                    <p:nvPicPr>
                      <p:cNvPr id="5529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1392" y="3810001"/>
                        <a:ext cx="4343400" cy="1127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0" name="Object 4"/>
          <p:cNvGraphicFramePr>
            <a:graphicFrameLocks noChangeAspect="1"/>
          </p:cNvGraphicFramePr>
          <p:nvPr/>
        </p:nvGraphicFramePr>
        <p:xfrm>
          <a:off x="4648200" y="2590800"/>
          <a:ext cx="4330700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6" name="Equation" r:id="rId7" imgW="1752480" imgH="393480" progId="Equation.3">
                  <p:embed/>
                </p:oleObj>
              </mc:Choice>
              <mc:Fallback>
                <p:oleObj name="Equation" r:id="rId7" imgW="1752480" imgH="393480" progId="Equation.3">
                  <p:embed/>
                  <p:pic>
                    <p:nvPicPr>
                      <p:cNvPr id="5530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2590800"/>
                        <a:ext cx="4330700" cy="971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2956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9703-E561-4075-8751-9EACA4CC3763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533940" y="9940"/>
            <a:ext cx="9134060" cy="5232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latin typeface="Arial"/>
                <a:cs typeface="Arial"/>
              </a:rPr>
              <a:t>4.2.3. ĐƯỜNG CHUẨN ĐỘ  OXY HÓA – KHỬ</a:t>
            </a:r>
            <a:endParaRPr lang="en-US" sz="2800" b="1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4" name="Group 8"/>
          <p:cNvGrpSpPr>
            <a:grpSpLocks/>
          </p:cNvGrpSpPr>
          <p:nvPr/>
        </p:nvGrpSpPr>
        <p:grpSpPr bwMode="auto">
          <a:xfrm>
            <a:off x="8458199" y="828954"/>
            <a:ext cx="2590800" cy="5876645"/>
            <a:chOff x="2685" y="624"/>
            <a:chExt cx="1632" cy="3456"/>
          </a:xfrm>
        </p:grpSpPr>
        <p:sp>
          <p:nvSpPr>
            <p:cNvPr id="5" name="Text Box 9"/>
            <p:cNvSpPr txBox="1">
              <a:spLocks noChangeArrowheads="1"/>
            </p:cNvSpPr>
            <p:nvPr/>
          </p:nvSpPr>
          <p:spPr bwMode="auto">
            <a:xfrm>
              <a:off x="3238" y="1436"/>
              <a:ext cx="865" cy="2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lang="en-US" sz="2000" dirty="0">
                  <a:solidFill>
                    <a:srgbClr val="3B54D3"/>
                  </a:solidFill>
                  <a:latin typeface="Arial" pitchFamily="34" charset="0"/>
                  <a:cs typeface="Arial" pitchFamily="34" charset="0"/>
                </a:rPr>
                <a:t>V: ml Ox</a:t>
              </a:r>
              <a:r>
                <a:rPr lang="en-US" sz="2000" baseline="-25000" dirty="0">
                  <a:solidFill>
                    <a:srgbClr val="3B54D3"/>
                  </a:solidFill>
                  <a:latin typeface="Arial" pitchFamily="34" charset="0"/>
                  <a:cs typeface="Arial" pitchFamily="34" charset="0"/>
                </a:rPr>
                <a:t>2</a:t>
              </a:r>
              <a:r>
                <a:rPr lang="en-US" sz="2000" b="0" dirty="0">
                  <a:solidFill>
                    <a:srgbClr val="3B54D3"/>
                  </a:solidFill>
                  <a:latin typeface="Arial" pitchFamily="34" charset="0"/>
                  <a:cs typeface="Arial" pitchFamily="34" charset="0"/>
                </a:rPr>
                <a:t> </a:t>
              </a:r>
            </a:p>
          </p:txBody>
        </p:sp>
        <p:pic>
          <p:nvPicPr>
            <p:cNvPr id="6" name="Picture 10" descr="burett_bech_agit.gif (1961 octets)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5" y="624"/>
              <a:ext cx="700" cy="34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Text Box 11"/>
            <p:cNvSpPr txBox="1">
              <a:spLocks noChangeArrowheads="1"/>
            </p:cNvSpPr>
            <p:nvPr/>
          </p:nvSpPr>
          <p:spPr bwMode="auto">
            <a:xfrm>
              <a:off x="3261" y="3408"/>
              <a:ext cx="766" cy="4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/>
              <a:r>
                <a:rPr lang="en-US" dirty="0">
                  <a:solidFill>
                    <a:srgbClr val="FF0000"/>
                  </a:solidFill>
                  <a:latin typeface="Arial" charset="0"/>
                </a:rPr>
                <a:t>Kh</a:t>
              </a:r>
              <a:r>
                <a:rPr lang="en-US" baseline="-25000" dirty="0">
                  <a:solidFill>
                    <a:srgbClr val="FF0000"/>
                  </a:solidFill>
                  <a:latin typeface="Arial" charset="0"/>
                </a:rPr>
                <a:t>1</a:t>
              </a:r>
              <a:r>
                <a:rPr lang="en-US" dirty="0">
                  <a:solidFill>
                    <a:srgbClr val="FF0000"/>
                  </a:solidFill>
                  <a:latin typeface="Arial" charset="0"/>
                </a:rPr>
                <a:t> </a:t>
              </a:r>
            </a:p>
            <a:p>
              <a:pPr algn="ctr"/>
              <a:r>
                <a:rPr lang="en-US" dirty="0">
                  <a:solidFill>
                    <a:srgbClr val="FF0000"/>
                  </a:solidFill>
                  <a:latin typeface="Arial" charset="0"/>
                </a:rPr>
                <a:t>(V</a:t>
              </a:r>
              <a:r>
                <a:rPr lang="en-US" baseline="-25000" dirty="0">
                  <a:solidFill>
                    <a:srgbClr val="FF0000"/>
                  </a:solidFill>
                  <a:latin typeface="Arial" charset="0"/>
                </a:rPr>
                <a:t>0</a:t>
              </a:r>
              <a:r>
                <a:rPr lang="en-US" dirty="0">
                  <a:solidFill>
                    <a:srgbClr val="FF0000"/>
                  </a:solidFill>
                  <a:latin typeface="Arial" charset="0"/>
                </a:rPr>
                <a:t>, C</a:t>
              </a:r>
              <a:r>
                <a:rPr lang="en-US" baseline="-25000" dirty="0">
                  <a:solidFill>
                    <a:srgbClr val="FF0000"/>
                  </a:solidFill>
                  <a:latin typeface="Arial" charset="0"/>
                </a:rPr>
                <a:t>0</a:t>
              </a:r>
              <a:r>
                <a:rPr lang="en-US" dirty="0">
                  <a:solidFill>
                    <a:srgbClr val="FF0000"/>
                  </a:solidFill>
                  <a:latin typeface="Arial" charset="0"/>
                </a:rPr>
                <a:t>)</a:t>
              </a:r>
            </a:p>
          </p:txBody>
        </p:sp>
        <p:sp>
          <p:nvSpPr>
            <p:cNvPr id="8" name="Text Box 12"/>
            <p:cNvSpPr txBox="1">
              <a:spLocks noChangeArrowheads="1"/>
            </p:cNvSpPr>
            <p:nvPr/>
          </p:nvSpPr>
          <p:spPr bwMode="auto">
            <a:xfrm>
              <a:off x="3261" y="851"/>
              <a:ext cx="1056" cy="2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lang="en-US" sz="2000" dirty="0">
                  <a:solidFill>
                    <a:srgbClr val="0000FF"/>
                  </a:solidFill>
                  <a:latin typeface="Arial" charset="0"/>
                </a:rPr>
                <a:t>Ox</a:t>
              </a:r>
              <a:r>
                <a:rPr lang="en-US" sz="2000" baseline="-25000" dirty="0">
                  <a:solidFill>
                    <a:srgbClr val="0000FF"/>
                  </a:solidFill>
                  <a:latin typeface="Arial" charset="0"/>
                </a:rPr>
                <a:t>2</a:t>
              </a:r>
              <a:r>
                <a:rPr lang="en-US" sz="2000" dirty="0">
                  <a:solidFill>
                    <a:srgbClr val="0000FF"/>
                  </a:solidFill>
                  <a:latin typeface="Arial" charset="0"/>
                </a:rPr>
                <a:t> (C)</a:t>
              </a:r>
            </a:p>
          </p:txBody>
        </p:sp>
        <p:sp>
          <p:nvSpPr>
            <p:cNvPr id="9" name="AutoShape 13"/>
            <p:cNvSpPr>
              <a:spLocks/>
            </p:cNvSpPr>
            <p:nvPr/>
          </p:nvSpPr>
          <p:spPr bwMode="auto">
            <a:xfrm>
              <a:off x="3069" y="768"/>
              <a:ext cx="240" cy="1344"/>
            </a:xfrm>
            <a:prstGeom prst="rightBrace">
              <a:avLst>
                <a:gd name="adj1" fmla="val 4666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vi-VN"/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1676400" y="609601"/>
            <a:ext cx="6781800" cy="107478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>
              <a:lnSpc>
                <a:spcPct val="114000"/>
              </a:lnSpc>
            </a:pPr>
            <a:r>
              <a:rPr lang="en-US" sz="2800" b="1" dirty="0">
                <a:latin typeface="Arial" pitchFamily="34" charset="0"/>
                <a:cs typeface="Arial" pitchFamily="34" charset="0"/>
              </a:rPr>
              <a:t>  </a:t>
            </a:r>
            <a:r>
              <a:rPr lang="en-US" sz="2800" b="1" dirty="0" err="1">
                <a:latin typeface="Arial" pitchFamily="34" charset="0"/>
                <a:cs typeface="Arial" pitchFamily="34" charset="0"/>
              </a:rPr>
              <a:t>Giả</a:t>
            </a:r>
            <a:r>
              <a:rPr lang="en-US" sz="28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latin typeface="Arial" pitchFamily="34" charset="0"/>
                <a:cs typeface="Arial" pitchFamily="34" charset="0"/>
              </a:rPr>
              <a:t>sử</a:t>
            </a:r>
            <a:r>
              <a:rPr lang="en-US" sz="28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latin typeface="Arial" pitchFamily="34" charset="0"/>
                <a:cs typeface="Arial" pitchFamily="34" charset="0"/>
              </a:rPr>
              <a:t>chuẩn</a:t>
            </a:r>
            <a:r>
              <a:rPr lang="en-US" sz="28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latin typeface="Arial" pitchFamily="34" charset="0"/>
                <a:cs typeface="Arial" pitchFamily="34" charset="0"/>
              </a:rPr>
              <a:t>độ</a:t>
            </a:r>
            <a:r>
              <a:rPr lang="en-US" sz="2800" b="1" dirty="0">
                <a:latin typeface="Arial" pitchFamily="34" charset="0"/>
                <a:cs typeface="Arial" pitchFamily="34" charset="0"/>
              </a:rPr>
              <a:t> Kh</a:t>
            </a:r>
            <a:r>
              <a:rPr lang="en-US" sz="2800" b="1" baseline="-25000" dirty="0">
                <a:latin typeface="Arial" pitchFamily="34" charset="0"/>
                <a:cs typeface="Arial" pitchFamily="34" charset="0"/>
              </a:rPr>
              <a:t>1 </a:t>
            </a:r>
            <a:r>
              <a:rPr lang="en-US" sz="2800" b="1" dirty="0">
                <a:latin typeface="Arial" pitchFamily="34" charset="0"/>
                <a:cs typeface="Arial" pitchFamily="34" charset="0"/>
              </a:rPr>
              <a:t>(V</a:t>
            </a:r>
            <a:r>
              <a:rPr lang="en-US" sz="2800" b="1" baseline="-25000" dirty="0">
                <a:latin typeface="Arial" pitchFamily="34" charset="0"/>
                <a:cs typeface="Arial" pitchFamily="34" charset="0"/>
              </a:rPr>
              <a:t>0</a:t>
            </a:r>
            <a:r>
              <a:rPr lang="en-US" sz="28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latin typeface="Arial" pitchFamily="34" charset="0"/>
                <a:cs typeface="Arial" pitchFamily="34" charset="0"/>
              </a:rPr>
              <a:t>mL</a:t>
            </a:r>
            <a:r>
              <a:rPr lang="en-US" sz="2800" b="1" dirty="0">
                <a:latin typeface="Arial" pitchFamily="34" charset="0"/>
                <a:cs typeface="Arial" pitchFamily="34" charset="0"/>
              </a:rPr>
              <a:t>, C</a:t>
            </a:r>
            <a:r>
              <a:rPr lang="en-US" sz="2800" b="1" baseline="-25000" dirty="0">
                <a:latin typeface="Arial" pitchFamily="34" charset="0"/>
                <a:cs typeface="Arial" pitchFamily="34" charset="0"/>
              </a:rPr>
              <a:t>0</a:t>
            </a:r>
            <a:r>
              <a:rPr lang="en-US" sz="2800" b="1" dirty="0">
                <a:latin typeface="Arial" pitchFamily="34" charset="0"/>
                <a:cs typeface="Arial" pitchFamily="34" charset="0"/>
              </a:rPr>
              <a:t>) </a:t>
            </a:r>
            <a:r>
              <a:rPr lang="en-US" sz="2800" b="1" dirty="0" err="1">
                <a:latin typeface="Arial" pitchFamily="34" charset="0"/>
                <a:cs typeface="Arial" pitchFamily="34" charset="0"/>
              </a:rPr>
              <a:t>bằng</a:t>
            </a:r>
            <a:r>
              <a:rPr lang="en-US" sz="2800" b="1" dirty="0">
                <a:latin typeface="Arial" pitchFamily="34" charset="0"/>
                <a:cs typeface="Arial" pitchFamily="34" charset="0"/>
              </a:rPr>
              <a:t> Ox</a:t>
            </a:r>
            <a:r>
              <a:rPr lang="en-US" sz="2800" b="1" baseline="-25000" dirty="0">
                <a:latin typeface="Arial" pitchFamily="34" charset="0"/>
                <a:cs typeface="Arial" pitchFamily="34" charset="0"/>
              </a:rPr>
              <a:t>2</a:t>
            </a:r>
            <a:r>
              <a:rPr lang="en-US" sz="2800" b="1" dirty="0">
                <a:latin typeface="Arial" pitchFamily="34" charset="0"/>
                <a:cs typeface="Arial" pitchFamily="34" charset="0"/>
              </a:rPr>
              <a:t> (C). </a:t>
            </a:r>
          </a:p>
        </p:txBody>
      </p:sp>
      <p:graphicFrame>
        <p:nvGraphicFramePr>
          <p:cNvPr id="47106" name="Object 2"/>
          <p:cNvGraphicFramePr>
            <a:graphicFrameLocks noChangeAspect="1"/>
          </p:cNvGraphicFramePr>
          <p:nvPr/>
        </p:nvGraphicFramePr>
        <p:xfrm>
          <a:off x="1747839" y="2447522"/>
          <a:ext cx="6867525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0" name="CS ChemDraw Drawing" r:id="rId4" imgW="3206160" imgH="226800" progId="ChemDraw.Document.6.0">
                  <p:embed/>
                </p:oleObj>
              </mc:Choice>
              <mc:Fallback>
                <p:oleObj name="CS ChemDraw Drawing" r:id="rId4" imgW="3206160" imgH="226800" progId="ChemDraw.Document.6.0">
                  <p:embed/>
                  <p:pic>
                    <p:nvPicPr>
                      <p:cNvPr id="4710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7839" y="2447522"/>
                        <a:ext cx="6867525" cy="485775"/>
                      </a:xfrm>
                      <a:prstGeom prst="rect">
                        <a:avLst/>
                      </a:prstGeom>
                      <a:solidFill>
                        <a:srgbClr val="CC99FF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Group 14"/>
          <p:cNvGrpSpPr/>
          <p:nvPr/>
        </p:nvGrpSpPr>
        <p:grpSpPr>
          <a:xfrm>
            <a:off x="4038600" y="5257800"/>
            <a:ext cx="4267200" cy="1115074"/>
            <a:chOff x="1633332" y="5352805"/>
            <a:chExt cx="4267200" cy="1115074"/>
          </a:xfrm>
        </p:grpSpPr>
        <p:graphicFrame>
          <p:nvGraphicFramePr>
            <p:cNvPr id="13" name="Object 12"/>
            <p:cNvGraphicFramePr>
              <a:graphicFrameLocks noChangeAspect="1"/>
            </p:cNvGraphicFramePr>
            <p:nvPr/>
          </p:nvGraphicFramePr>
          <p:xfrm>
            <a:off x="1633332" y="5352805"/>
            <a:ext cx="1643267" cy="11150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81" name="Equation" r:id="rId6" imgW="711000" imgH="482400" progId="Equation.3">
                    <p:embed/>
                  </p:oleObj>
                </mc:Choice>
                <mc:Fallback>
                  <p:oleObj name="Equation" r:id="rId6" imgW="711000" imgH="482400" progId="Equation.3">
                    <p:embed/>
                    <p:pic>
                      <p:nvPicPr>
                        <p:cNvPr id="13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3332" y="5352805"/>
                          <a:ext cx="1643267" cy="111507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TextBox 13"/>
            <p:cNvSpPr txBox="1"/>
            <p:nvPr/>
          </p:nvSpPr>
          <p:spPr>
            <a:xfrm>
              <a:off x="3233532" y="5622476"/>
              <a:ext cx="2667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latin typeface="Arial" pitchFamily="34" charset="0"/>
                  <a:cs typeface="Arial" pitchFamily="34" charset="0"/>
                </a:rPr>
                <a:t>C </a:t>
              </a:r>
              <a:r>
                <a:rPr lang="en-US" sz="2800" b="1" dirty="0" err="1">
                  <a:latin typeface="Arial" pitchFamily="34" charset="0"/>
                  <a:cs typeface="Arial" pitchFamily="34" charset="0"/>
                </a:rPr>
                <a:t>và</a:t>
              </a:r>
              <a:r>
                <a:rPr lang="en-US" sz="2800" b="1" dirty="0">
                  <a:latin typeface="Arial" pitchFamily="34" charset="0"/>
                  <a:cs typeface="Arial" pitchFamily="34" charset="0"/>
                </a:rPr>
                <a:t> C</a:t>
              </a:r>
              <a:r>
                <a:rPr lang="en-US" sz="2800" b="1" baseline="-25000" dirty="0">
                  <a:latin typeface="Arial" pitchFamily="34" charset="0"/>
                  <a:cs typeface="Arial" pitchFamily="34" charset="0"/>
                </a:rPr>
                <a:t>0</a:t>
              </a:r>
              <a:r>
                <a:rPr lang="en-US" sz="2800" b="1" dirty="0">
                  <a:latin typeface="Arial" pitchFamily="34" charset="0"/>
                  <a:cs typeface="Arial" pitchFamily="34" charset="0"/>
                </a:rPr>
                <a:t>: C</a:t>
              </a:r>
              <a:r>
                <a:rPr lang="en-US" sz="2800" b="1" baseline="-25000" dirty="0">
                  <a:latin typeface="Arial" pitchFamily="34" charset="0"/>
                  <a:cs typeface="Arial" pitchFamily="34" charset="0"/>
                </a:rPr>
                <a:t>N</a:t>
              </a:r>
              <a:endParaRPr lang="en-US" sz="2800" b="1" dirty="0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1600200" y="1752600"/>
            <a:ext cx="6781800" cy="583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4000"/>
              </a:lnSpc>
            </a:pP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Wingdings 2"/>
              </a:rPr>
              <a:t></a:t>
            </a:r>
            <a:r>
              <a:rPr lang="en-US" sz="2800" b="1" dirty="0" err="1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Xét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phản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ứng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chuẩn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độ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: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1600201" y="3309938"/>
            <a:ext cx="7243763" cy="1719262"/>
            <a:chOff x="76200" y="3199691"/>
            <a:chExt cx="7243763" cy="1719262"/>
          </a:xfrm>
        </p:grpSpPr>
        <p:graphicFrame>
          <p:nvGraphicFramePr>
            <p:cNvPr id="12" name="Object 11"/>
            <p:cNvGraphicFramePr>
              <a:graphicFrameLocks noChangeAspect="1"/>
            </p:cNvGraphicFramePr>
            <p:nvPr/>
          </p:nvGraphicFramePr>
          <p:xfrm>
            <a:off x="3667125" y="3199691"/>
            <a:ext cx="3652838" cy="17192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82" name="Equation" r:id="rId8" imgW="1942920" imgH="914400" progId="Equation.3">
                    <p:embed/>
                  </p:oleObj>
                </mc:Choice>
                <mc:Fallback>
                  <p:oleObj name="Equation" r:id="rId8" imgW="1942920" imgH="914400" progId="Equation.3">
                    <p:embed/>
                    <p:pic>
                      <p:nvPicPr>
                        <p:cNvPr id="12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67125" y="3199691"/>
                          <a:ext cx="3652838" cy="17192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109" name="Object 5"/>
            <p:cNvGraphicFramePr>
              <a:graphicFrameLocks noChangeAspect="1"/>
            </p:cNvGraphicFramePr>
            <p:nvPr/>
          </p:nvGraphicFramePr>
          <p:xfrm>
            <a:off x="76200" y="4184650"/>
            <a:ext cx="3783013" cy="463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83" name="CS ChemDraw Drawing" r:id="rId10" imgW="2070000" imgH="253800" progId="ChemDraw.Document.6.0">
                    <p:embed/>
                  </p:oleObj>
                </mc:Choice>
                <mc:Fallback>
                  <p:oleObj name="CS ChemDraw Drawing" r:id="rId10" imgW="2070000" imgH="253800" progId="ChemDraw.Document.6.0">
                    <p:embed/>
                    <p:pic>
                      <p:nvPicPr>
                        <p:cNvPr id="47109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200" y="4184650"/>
                          <a:ext cx="3783013" cy="4635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110" name="Object 6"/>
            <p:cNvGraphicFramePr>
              <a:graphicFrameLocks noChangeAspect="1"/>
            </p:cNvGraphicFramePr>
            <p:nvPr/>
          </p:nvGraphicFramePr>
          <p:xfrm>
            <a:off x="76200" y="3346450"/>
            <a:ext cx="3717926" cy="463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84" name="CS ChemDraw Drawing" r:id="rId12" imgW="2118600" imgH="264240" progId="ChemDraw.Document.6.0">
                    <p:embed/>
                  </p:oleObj>
                </mc:Choice>
                <mc:Fallback>
                  <p:oleObj name="CS ChemDraw Drawing" r:id="rId12" imgW="2118600" imgH="264240" progId="ChemDraw.Document.6.0">
                    <p:embed/>
                    <p:pic>
                      <p:nvPicPr>
                        <p:cNvPr id="4711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200" y="3346450"/>
                          <a:ext cx="3717926" cy="4635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512749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2651760" y="223374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5974661"/>
              </p:ext>
            </p:extLst>
          </p:nvPr>
        </p:nvGraphicFramePr>
        <p:xfrm>
          <a:off x="2167666" y="1535269"/>
          <a:ext cx="4755602" cy="13969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5" name="Equation" r:id="rId3" imgW="1511300" imgH="444500" progId="Equation.3">
                  <p:embed/>
                </p:oleObj>
              </mc:Choice>
              <mc:Fallback>
                <p:oleObj name="Equation" r:id="rId3" imgW="1511300" imgH="4445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7666" y="1535269"/>
                        <a:ext cx="4755602" cy="139695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250576" y="443753"/>
            <a:ext cx="5836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Sai </a:t>
            </a:r>
            <a:r>
              <a:rPr lang="en-US" sz="2800" b="1" dirty="0" err="1" smtClean="0">
                <a:solidFill>
                  <a:srgbClr val="FF0000"/>
                </a:solidFill>
              </a:rPr>
              <a:t>số</a:t>
            </a:r>
            <a:r>
              <a:rPr lang="en-US" sz="2800" b="1" dirty="0" smtClean="0">
                <a:solidFill>
                  <a:srgbClr val="FF0000"/>
                </a:solidFill>
              </a:rPr>
              <a:t> </a:t>
            </a:r>
            <a:r>
              <a:rPr lang="en-US" sz="2800" b="1" dirty="0" err="1" smtClean="0">
                <a:solidFill>
                  <a:srgbClr val="FF0000"/>
                </a:solidFill>
              </a:rPr>
              <a:t>chuẩn</a:t>
            </a:r>
            <a:r>
              <a:rPr lang="en-US" sz="2800" b="1" dirty="0" smtClean="0">
                <a:solidFill>
                  <a:srgbClr val="FF0000"/>
                </a:solidFill>
              </a:rPr>
              <a:t> </a:t>
            </a:r>
            <a:r>
              <a:rPr lang="en-US" sz="2800" b="1" dirty="0" err="1" smtClean="0">
                <a:solidFill>
                  <a:srgbClr val="FF0000"/>
                </a:solidFill>
              </a:rPr>
              <a:t>độ</a:t>
            </a:r>
            <a:r>
              <a:rPr lang="en-US" sz="2800" b="1" dirty="0" smtClean="0">
                <a:solidFill>
                  <a:srgbClr val="FF0000"/>
                </a:solidFill>
              </a:rPr>
              <a:t> </a:t>
            </a:r>
            <a:r>
              <a:rPr lang="en-US" sz="2800" b="1" dirty="0" err="1" smtClean="0">
                <a:solidFill>
                  <a:srgbClr val="FF0000"/>
                </a:solidFill>
              </a:rPr>
              <a:t>oxi</a:t>
            </a:r>
            <a:r>
              <a:rPr lang="en-US" sz="2800" b="1" dirty="0" smtClean="0">
                <a:solidFill>
                  <a:srgbClr val="FF0000"/>
                </a:solidFill>
              </a:rPr>
              <a:t> </a:t>
            </a:r>
            <a:r>
              <a:rPr lang="en-US" sz="2800" b="1" dirty="0" err="1" smtClean="0">
                <a:solidFill>
                  <a:srgbClr val="FF0000"/>
                </a:solidFill>
              </a:rPr>
              <a:t>hóa</a:t>
            </a:r>
            <a:r>
              <a:rPr lang="en-US" sz="2800" b="1" dirty="0" smtClean="0">
                <a:solidFill>
                  <a:srgbClr val="FF0000"/>
                </a:solidFill>
              </a:rPr>
              <a:t> </a:t>
            </a:r>
            <a:r>
              <a:rPr lang="en-US" sz="2800" b="1" dirty="0" err="1" smtClean="0">
                <a:solidFill>
                  <a:srgbClr val="FF0000"/>
                </a:solidFill>
              </a:rPr>
              <a:t>khử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57835" y="3500523"/>
            <a:ext cx="9282954" cy="27946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00050" algn="just">
              <a:lnSpc>
                <a:spcPct val="115000"/>
              </a:lnSpc>
              <a:spcAft>
                <a:spcPts val="600"/>
              </a:spcAft>
            </a:pP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Trong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đó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</a:t>
            </a:r>
            <a:r>
              <a:rPr lang="en-US" sz="2400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là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tại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điểm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cuối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tức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là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ứng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với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thời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điểm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ta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kết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thúc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chuẩn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24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00050" algn="just">
              <a:lnSpc>
                <a:spcPct val="115000"/>
              </a:lnSpc>
              <a:spcAft>
                <a:spcPts val="600"/>
              </a:spcAft>
            </a:pP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Phương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pháp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chung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để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tính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sai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số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là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Trước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hết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tính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sai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số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ở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điểm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tương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đương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en-US" sz="2400" baseline="-25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tđ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Từ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đó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so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sánh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thế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điểm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cuối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với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en-US" sz="2400" baseline="-25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tđ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xem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kết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thúc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chuẩn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trước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hoặc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sau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điểm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tương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đương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để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chọn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phương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trình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tính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F. </a:t>
            </a:r>
            <a:endParaRPr lang="en-US" sz="2400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00050" algn="just">
              <a:lnSpc>
                <a:spcPct val="115000"/>
              </a:lnSpc>
              <a:spcAft>
                <a:spcPts val="600"/>
              </a:spcAft>
            </a:pPr>
            <a:r>
              <a:rPr 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 </a:t>
            </a:r>
            <a:r>
              <a:rPr lang="en-US" sz="2400" b="1" dirty="0" err="1" smtClean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xem</a:t>
            </a:r>
            <a:r>
              <a:rPr 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VD </a:t>
            </a:r>
            <a:r>
              <a:rPr lang="en-US" sz="2400" b="1" dirty="0" err="1" smtClean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trang</a:t>
            </a:r>
            <a:r>
              <a:rPr 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131</a:t>
            </a:r>
            <a:r>
              <a:rPr 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58390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00200" y="4250701"/>
            <a:ext cx="830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sz="2800" b="1" dirty="0">
                <a:latin typeface="Arial" pitchFamily="34" charset="0"/>
                <a:cs typeface="Arial" pitchFamily="34" charset="0"/>
              </a:rPr>
              <a:t>• </a:t>
            </a:r>
            <a:r>
              <a:rPr lang="en-US" sz="2800" b="1" dirty="0" err="1">
                <a:latin typeface="Arial" pitchFamily="34" charset="0"/>
                <a:cs typeface="Arial" pitchFamily="34" charset="0"/>
              </a:rPr>
              <a:t>Vì</a:t>
            </a:r>
            <a:r>
              <a:rPr lang="en-US" sz="28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latin typeface="Arial" pitchFamily="34" charset="0"/>
                <a:cs typeface="Arial" pitchFamily="34" charset="0"/>
              </a:rPr>
              <a:t>kết</a:t>
            </a:r>
            <a:r>
              <a:rPr lang="en-US" sz="28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latin typeface="Arial" pitchFamily="34" charset="0"/>
                <a:cs typeface="Arial" pitchFamily="34" charset="0"/>
              </a:rPr>
              <a:t>tủa</a:t>
            </a:r>
            <a:r>
              <a:rPr lang="en-US" sz="28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latin typeface="Arial" pitchFamily="34" charset="0"/>
                <a:cs typeface="Arial" pitchFamily="34" charset="0"/>
              </a:rPr>
              <a:t>có</a:t>
            </a:r>
            <a:r>
              <a:rPr lang="en-US" sz="28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latin typeface="Arial" pitchFamily="34" charset="0"/>
                <a:cs typeface="Arial" pitchFamily="34" charset="0"/>
              </a:rPr>
              <a:t>độ</a:t>
            </a:r>
            <a:r>
              <a:rPr lang="en-US" sz="2800" b="1" dirty="0">
                <a:latin typeface="Arial" pitchFamily="34" charset="0"/>
                <a:cs typeface="Arial" pitchFamily="34" charset="0"/>
              </a:rPr>
              <a:t> tan </a:t>
            </a:r>
            <a:r>
              <a:rPr lang="en-US" sz="2800" b="1" dirty="0" err="1">
                <a:latin typeface="Arial" pitchFamily="34" charset="0"/>
                <a:cs typeface="Arial" pitchFamily="34" charset="0"/>
              </a:rPr>
              <a:t>nhỏ</a:t>
            </a:r>
            <a:r>
              <a:rPr lang="en-US" sz="28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latin typeface="Arial" pitchFamily="34" charset="0"/>
                <a:cs typeface="Arial" pitchFamily="34" charset="0"/>
              </a:rPr>
              <a:t>nên</a:t>
            </a:r>
            <a:r>
              <a:rPr lang="en-US" sz="28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latin typeface="Arial" pitchFamily="34" charset="0"/>
                <a:cs typeface="Arial" pitchFamily="34" charset="0"/>
              </a:rPr>
              <a:t>coi</a:t>
            </a:r>
            <a:r>
              <a:rPr lang="en-US" sz="2800" b="1" dirty="0">
                <a:latin typeface="Arial" pitchFamily="34" charset="0"/>
                <a:cs typeface="Arial" pitchFamily="34" charset="0"/>
              </a:rPr>
              <a:t> f ≈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24000" y="9940"/>
            <a:ext cx="9130748" cy="5232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chemeClr val="accent1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5.1.1. TÍCH SỐ TAN VÀ ĐỘ TAN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2249488" y="4964724"/>
          <a:ext cx="7046913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6" name="Equation" r:id="rId3" imgW="3187440" imgH="253800" progId="Equation.3">
                  <p:embed/>
                </p:oleObj>
              </mc:Choice>
              <mc:Fallback>
                <p:oleObj name="Equation" r:id="rId3" imgW="3187440" imgH="253800" progId="Equation.3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9488" y="4964724"/>
                        <a:ext cx="7046913" cy="561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542661" y="572278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Wingdings 2"/>
              </a:rPr>
              <a:t> </a:t>
            </a:r>
            <a:r>
              <a:rPr lang="en-US" sz="28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Wingdings 2"/>
              </a:rPr>
              <a:t>Độ</a:t>
            </a:r>
            <a:r>
              <a:rPr lang="en-US" sz="2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Wingdings 2"/>
              </a:rPr>
              <a:t> tan (S)</a:t>
            </a:r>
            <a:endParaRPr lang="en-US" sz="28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600200" y="1116497"/>
            <a:ext cx="8915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990033"/>
                </a:solidFill>
                <a:latin typeface="Arial" pitchFamily="34" charset="0"/>
                <a:cs typeface="Arial" pitchFamily="34" charset="0"/>
              </a:rPr>
              <a:t>    </a:t>
            </a:r>
            <a:r>
              <a:rPr lang="en-US" sz="2800" b="1" dirty="0" err="1">
                <a:solidFill>
                  <a:srgbClr val="990033"/>
                </a:solidFill>
                <a:latin typeface="Arial" pitchFamily="34" charset="0"/>
                <a:cs typeface="Arial" pitchFamily="34" charset="0"/>
              </a:rPr>
              <a:t>Độ</a:t>
            </a:r>
            <a:r>
              <a:rPr lang="en-US" sz="2800" b="1" dirty="0">
                <a:solidFill>
                  <a:srgbClr val="990033"/>
                </a:solidFill>
                <a:latin typeface="Arial" pitchFamily="34" charset="0"/>
                <a:cs typeface="Arial" pitchFamily="34" charset="0"/>
              </a:rPr>
              <a:t> tan (S)</a:t>
            </a:r>
            <a:r>
              <a:rPr lang="en-US" sz="28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latin typeface="Arial" pitchFamily="34" charset="0"/>
                <a:cs typeface="Arial" pitchFamily="34" charset="0"/>
              </a:rPr>
              <a:t>của</a:t>
            </a:r>
            <a:r>
              <a:rPr lang="en-US" sz="28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latin typeface="Arial" pitchFamily="34" charset="0"/>
                <a:cs typeface="Arial" pitchFamily="34" charset="0"/>
              </a:rPr>
              <a:t>một</a:t>
            </a:r>
            <a:r>
              <a:rPr lang="en-US" sz="28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latin typeface="Arial" pitchFamily="34" charset="0"/>
                <a:cs typeface="Arial" pitchFamily="34" charset="0"/>
              </a:rPr>
              <a:t>chất</a:t>
            </a:r>
            <a:r>
              <a:rPr lang="en-US" sz="28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latin typeface="Arial" pitchFamily="34" charset="0"/>
                <a:cs typeface="Arial" pitchFamily="34" charset="0"/>
              </a:rPr>
              <a:t>là</a:t>
            </a:r>
            <a:r>
              <a:rPr lang="en-US" sz="28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solidFill>
                  <a:srgbClr val="00B0F0"/>
                </a:solidFill>
                <a:latin typeface="Arial" pitchFamily="34" charset="0"/>
                <a:cs typeface="Arial" pitchFamily="34" charset="0"/>
              </a:rPr>
              <a:t>nồng</a:t>
            </a:r>
            <a:r>
              <a:rPr lang="en-US" sz="2800" b="1" dirty="0">
                <a:solidFill>
                  <a:srgbClr val="00B0F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solidFill>
                  <a:srgbClr val="00B0F0"/>
                </a:solidFill>
                <a:latin typeface="Arial" pitchFamily="34" charset="0"/>
                <a:cs typeface="Arial" pitchFamily="34" charset="0"/>
              </a:rPr>
              <a:t>độ</a:t>
            </a:r>
            <a:r>
              <a:rPr lang="en-US" sz="2800" b="1" dirty="0">
                <a:solidFill>
                  <a:srgbClr val="00B0F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latin typeface="Arial" pitchFamily="34" charset="0"/>
                <a:cs typeface="Arial" pitchFamily="34" charset="0"/>
              </a:rPr>
              <a:t>của</a:t>
            </a:r>
            <a:r>
              <a:rPr lang="en-US" sz="28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latin typeface="Arial" pitchFamily="34" charset="0"/>
                <a:cs typeface="Arial" pitchFamily="34" charset="0"/>
              </a:rPr>
              <a:t>chất</a:t>
            </a:r>
            <a:r>
              <a:rPr lang="en-US" sz="28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latin typeface="Arial" pitchFamily="34" charset="0"/>
                <a:cs typeface="Arial" pitchFamily="34" charset="0"/>
              </a:rPr>
              <a:t>đó</a:t>
            </a:r>
            <a:r>
              <a:rPr lang="en-US" sz="28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latin typeface="Arial" pitchFamily="34" charset="0"/>
                <a:cs typeface="Arial" pitchFamily="34" charset="0"/>
              </a:rPr>
              <a:t>trong</a:t>
            </a:r>
            <a:r>
              <a:rPr lang="en-US" sz="28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>
                <a:solidFill>
                  <a:srgbClr val="00B0F0"/>
                </a:solidFill>
                <a:latin typeface="Arial" pitchFamily="34" charset="0"/>
                <a:cs typeface="Arial" pitchFamily="34" charset="0"/>
              </a:rPr>
              <a:t>dung </a:t>
            </a:r>
            <a:r>
              <a:rPr lang="en-US" sz="2800" b="1" dirty="0" err="1">
                <a:solidFill>
                  <a:srgbClr val="00B0F0"/>
                </a:solidFill>
                <a:latin typeface="Arial" pitchFamily="34" charset="0"/>
                <a:cs typeface="Arial" pitchFamily="34" charset="0"/>
              </a:rPr>
              <a:t>dịch</a:t>
            </a:r>
            <a:r>
              <a:rPr lang="en-US" sz="2800" b="1" dirty="0">
                <a:solidFill>
                  <a:srgbClr val="00B0F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solidFill>
                  <a:srgbClr val="00B0F0"/>
                </a:solidFill>
                <a:latin typeface="Arial" pitchFamily="34" charset="0"/>
                <a:cs typeface="Arial" pitchFamily="34" charset="0"/>
              </a:rPr>
              <a:t>bão</a:t>
            </a:r>
            <a:r>
              <a:rPr lang="en-US" sz="2800" b="1" dirty="0">
                <a:solidFill>
                  <a:srgbClr val="00B0F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solidFill>
                  <a:srgbClr val="00B0F0"/>
                </a:solidFill>
                <a:latin typeface="Arial" pitchFamily="34" charset="0"/>
                <a:cs typeface="Arial" pitchFamily="34" charset="0"/>
              </a:rPr>
              <a:t>hòa</a:t>
            </a:r>
            <a:r>
              <a:rPr lang="en-US" sz="2800" b="1" dirty="0">
                <a:solidFill>
                  <a:srgbClr val="00B0F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>
                <a:latin typeface="Arial" pitchFamily="34" charset="0"/>
                <a:cs typeface="Arial" pitchFamily="34" charset="0"/>
              </a:rPr>
              <a:t>(ở </a:t>
            </a:r>
            <a:r>
              <a:rPr lang="en-US" sz="2800" b="1" dirty="0" err="1">
                <a:latin typeface="Arial" pitchFamily="34" charset="0"/>
                <a:cs typeface="Arial" pitchFamily="34" charset="0"/>
              </a:rPr>
              <a:t>một</a:t>
            </a:r>
            <a:r>
              <a:rPr lang="en-US" sz="28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latin typeface="Arial" pitchFamily="34" charset="0"/>
                <a:cs typeface="Arial" pitchFamily="34" charset="0"/>
              </a:rPr>
              <a:t>nhiệt</a:t>
            </a:r>
            <a:r>
              <a:rPr lang="en-US" sz="28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latin typeface="Arial" pitchFamily="34" charset="0"/>
                <a:cs typeface="Arial" pitchFamily="34" charset="0"/>
              </a:rPr>
              <a:t>độ</a:t>
            </a:r>
            <a:r>
              <a:rPr lang="en-US" sz="28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latin typeface="Arial" pitchFamily="34" charset="0"/>
                <a:cs typeface="Arial" pitchFamily="34" charset="0"/>
              </a:rPr>
              <a:t>nhất</a:t>
            </a:r>
            <a:r>
              <a:rPr lang="en-US" sz="28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latin typeface="Arial" pitchFamily="34" charset="0"/>
                <a:cs typeface="Arial" pitchFamily="34" charset="0"/>
              </a:rPr>
              <a:t>định</a:t>
            </a:r>
            <a:r>
              <a:rPr lang="en-US" sz="2800" b="1" dirty="0">
                <a:latin typeface="Arial" pitchFamily="34" charset="0"/>
                <a:cs typeface="Arial" pitchFamily="34" charset="0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38600" y="2905780"/>
            <a:ext cx="472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latin typeface="Arial" pitchFamily="34" charset="0"/>
                <a:cs typeface="Arial" pitchFamily="34" charset="0"/>
              </a:rPr>
              <a:t>A</a:t>
            </a:r>
            <a:r>
              <a:rPr lang="en-US" sz="2800" b="1" baseline="-25000" dirty="0" err="1">
                <a:latin typeface="Arial" pitchFamily="34" charset="0"/>
                <a:cs typeface="Arial" pitchFamily="34" charset="0"/>
              </a:rPr>
              <a:t>m</a:t>
            </a:r>
            <a:r>
              <a:rPr lang="en-US" sz="2800" b="1" dirty="0" err="1">
                <a:latin typeface="Arial" pitchFamily="34" charset="0"/>
                <a:cs typeface="Arial" pitchFamily="34" charset="0"/>
              </a:rPr>
              <a:t>B</a:t>
            </a:r>
            <a:r>
              <a:rPr lang="en-US" sz="2800" b="1" baseline="-25000" dirty="0" err="1">
                <a:latin typeface="Arial" pitchFamily="34" charset="0"/>
                <a:cs typeface="Arial" pitchFamily="34" charset="0"/>
              </a:rPr>
              <a:t>n</a:t>
            </a:r>
            <a:r>
              <a:rPr lang="en-US" sz="2800" b="1" dirty="0">
                <a:latin typeface="Arial" pitchFamily="34" charset="0"/>
                <a:cs typeface="Arial" pitchFamily="34" charset="0"/>
              </a:rPr>
              <a:t>   ⇌   m A</a:t>
            </a:r>
            <a:r>
              <a:rPr lang="en-US" sz="2800" b="1" baseline="30000" dirty="0">
                <a:latin typeface="Arial" pitchFamily="34" charset="0"/>
                <a:cs typeface="Arial" pitchFamily="34" charset="0"/>
              </a:rPr>
              <a:t>n+</a:t>
            </a:r>
            <a:r>
              <a:rPr lang="en-US" sz="2800" b="1" dirty="0">
                <a:latin typeface="Arial" pitchFamily="34" charset="0"/>
                <a:cs typeface="Arial" pitchFamily="34" charset="0"/>
              </a:rPr>
              <a:t>  +  </a:t>
            </a:r>
            <a:r>
              <a:rPr lang="en-US" sz="2800" b="1" dirty="0" err="1">
                <a:latin typeface="Arial" pitchFamily="34" charset="0"/>
                <a:cs typeface="Arial" pitchFamily="34" charset="0"/>
              </a:rPr>
              <a:t>nB</a:t>
            </a:r>
            <a:r>
              <a:rPr lang="en-US" sz="2800" b="1" baseline="30000" dirty="0" err="1">
                <a:latin typeface="Arial" pitchFamily="34" charset="0"/>
                <a:cs typeface="Arial" pitchFamily="34" charset="0"/>
              </a:rPr>
              <a:t>m</a:t>
            </a:r>
            <a:r>
              <a:rPr lang="en-US" sz="2800" b="1" baseline="30000" dirty="0">
                <a:latin typeface="Arial" pitchFamily="34" charset="0"/>
                <a:cs typeface="Arial" pitchFamily="34" charset="0"/>
              </a:rPr>
              <a:t>-</a:t>
            </a:r>
            <a:r>
              <a:rPr lang="en-US" sz="2800" b="1" dirty="0">
                <a:latin typeface="Arial" pitchFamily="34" charset="0"/>
                <a:cs typeface="Arial" pitchFamily="34" charset="0"/>
              </a:rPr>
              <a:t>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19400" y="3362980"/>
            <a:ext cx="838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" pitchFamily="34" charset="0"/>
                <a:cs typeface="Arial" pitchFamily="34" charset="0"/>
              </a:rPr>
              <a:t>t</a:t>
            </a:r>
            <a:r>
              <a:rPr lang="en-US" sz="2800" b="1" baseline="-25000" dirty="0">
                <a:latin typeface="Arial" pitchFamily="34" charset="0"/>
                <a:cs typeface="Arial" pitchFamily="34" charset="0"/>
              </a:rPr>
              <a:t>0</a:t>
            </a:r>
            <a:endParaRPr lang="en-US" sz="28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819400" y="3743980"/>
            <a:ext cx="838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latin typeface="Arial" pitchFamily="34" charset="0"/>
                <a:cs typeface="Arial" pitchFamily="34" charset="0"/>
              </a:rPr>
              <a:t>t</a:t>
            </a:r>
            <a:r>
              <a:rPr lang="en-US" sz="2800" b="1" baseline="-25000" dirty="0" err="1">
                <a:latin typeface="Arial" pitchFamily="34" charset="0"/>
                <a:cs typeface="Arial" pitchFamily="34" charset="0"/>
              </a:rPr>
              <a:t>cb</a:t>
            </a:r>
            <a:endParaRPr lang="en-US" sz="2800" b="1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4343400" y="3362980"/>
            <a:ext cx="3962400" cy="523220"/>
            <a:chOff x="2819400" y="2590800"/>
            <a:chExt cx="3962400" cy="523220"/>
          </a:xfrm>
        </p:grpSpPr>
        <p:sp>
          <p:nvSpPr>
            <p:cNvPr id="10" name="TextBox 9"/>
            <p:cNvSpPr txBox="1"/>
            <p:nvPr/>
          </p:nvSpPr>
          <p:spPr>
            <a:xfrm>
              <a:off x="2819400" y="2590800"/>
              <a:ext cx="8382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latin typeface="Arial" pitchFamily="34" charset="0"/>
                  <a:cs typeface="Arial" pitchFamily="34" charset="0"/>
                </a:rPr>
                <a:t>a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572000" y="2590800"/>
              <a:ext cx="8382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latin typeface="Arial" pitchFamily="34" charset="0"/>
                  <a:cs typeface="Arial" pitchFamily="34" charset="0"/>
                </a:rPr>
                <a:t>0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943600" y="2590800"/>
              <a:ext cx="8382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latin typeface="Arial" pitchFamily="34" charset="0"/>
                  <a:cs typeface="Arial" pitchFamily="34" charset="0"/>
                </a:rPr>
                <a:t>0</a:t>
              </a: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4267200" y="3743980"/>
            <a:ext cx="3962400" cy="523220"/>
            <a:chOff x="2819400" y="2590800"/>
            <a:chExt cx="3962400" cy="523220"/>
          </a:xfrm>
        </p:grpSpPr>
        <p:sp>
          <p:nvSpPr>
            <p:cNvPr id="15" name="TextBox 14"/>
            <p:cNvSpPr txBox="1"/>
            <p:nvPr/>
          </p:nvSpPr>
          <p:spPr>
            <a:xfrm>
              <a:off x="2819400" y="2590800"/>
              <a:ext cx="8382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latin typeface="Arial" pitchFamily="34" charset="0"/>
                  <a:cs typeface="Arial" pitchFamily="34" charset="0"/>
                </a:rPr>
                <a:t>-S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419600" y="2590800"/>
              <a:ext cx="8382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 err="1">
                  <a:latin typeface="Arial" pitchFamily="34" charset="0"/>
                  <a:cs typeface="Arial" pitchFamily="34" charset="0"/>
                </a:rPr>
                <a:t>mS</a:t>
              </a:r>
              <a:endParaRPr lang="en-US" sz="28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943600" y="2590800"/>
              <a:ext cx="8382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 err="1">
                  <a:latin typeface="Arial" pitchFamily="34" charset="0"/>
                  <a:cs typeface="Arial" pitchFamily="34" charset="0"/>
                </a:rPr>
                <a:t>nS</a:t>
              </a:r>
              <a:endParaRPr lang="en-US" sz="2800" b="1" dirty="0">
                <a:latin typeface="Arial" pitchFamily="34" charset="0"/>
                <a:cs typeface="Arial" pitchFamily="34" charset="0"/>
              </a:endParaRPr>
            </a:p>
          </p:txBody>
        </p:sp>
      </p:grpSp>
      <p:graphicFrame>
        <p:nvGraphicFramePr>
          <p:cNvPr id="18" name="Object 17"/>
          <p:cNvGraphicFramePr>
            <a:graphicFrameLocks noChangeAspect="1"/>
          </p:cNvGraphicFramePr>
          <p:nvPr/>
        </p:nvGraphicFramePr>
        <p:xfrm>
          <a:off x="4267200" y="5650524"/>
          <a:ext cx="2667000" cy="10550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7" name="Equation" r:id="rId5" imgW="1155600" imgH="457200" progId="Equation.3">
                  <p:embed/>
                </p:oleObj>
              </mc:Choice>
              <mc:Fallback>
                <p:oleObj name="Equation" r:id="rId5" imgW="1155600" imgH="457200" progId="Equation.3">
                  <p:embed/>
                  <p:pic>
                    <p:nvPicPr>
                      <p:cNvPr id="18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5650524"/>
                        <a:ext cx="2667000" cy="105507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1600200" y="2143780"/>
            <a:ext cx="8915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latin typeface="Arial" pitchFamily="34" charset="0"/>
                <a:cs typeface="Arial" pitchFamily="34" charset="0"/>
              </a:rPr>
              <a:t>    </a:t>
            </a:r>
            <a:r>
              <a:rPr lang="en-US" sz="2800" b="1" dirty="0">
                <a:solidFill>
                  <a:srgbClr val="00B0F0"/>
                </a:solidFill>
                <a:latin typeface="Arial" pitchFamily="34" charset="0"/>
                <a:cs typeface="Arial" pitchFamily="34" charset="0"/>
              </a:rPr>
              <a:t>S </a:t>
            </a:r>
            <a:r>
              <a:rPr lang="en-US" sz="2800" b="1" dirty="0" err="1">
                <a:solidFill>
                  <a:srgbClr val="00B0F0"/>
                </a:solidFill>
                <a:latin typeface="Arial" pitchFamily="34" charset="0"/>
                <a:cs typeface="Arial" pitchFamily="34" charset="0"/>
              </a:rPr>
              <a:t>và</a:t>
            </a:r>
            <a:r>
              <a:rPr lang="en-US" sz="2800" b="1" dirty="0">
                <a:solidFill>
                  <a:srgbClr val="00B0F0"/>
                </a:solidFill>
                <a:latin typeface="Arial" pitchFamily="34" charset="0"/>
                <a:cs typeface="Arial" pitchFamily="34" charset="0"/>
              </a:rPr>
              <a:t> T </a:t>
            </a:r>
            <a:r>
              <a:rPr lang="en-US" sz="2800" b="1" dirty="0" err="1">
                <a:latin typeface="Arial" pitchFamily="34" charset="0"/>
                <a:cs typeface="Arial" pitchFamily="34" charset="0"/>
              </a:rPr>
              <a:t>là</a:t>
            </a:r>
            <a:r>
              <a:rPr lang="en-US" sz="28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latin typeface="Arial" pitchFamily="34" charset="0"/>
                <a:cs typeface="Arial" pitchFamily="34" charset="0"/>
              </a:rPr>
              <a:t>đại</a:t>
            </a:r>
            <a:r>
              <a:rPr lang="en-US" sz="28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latin typeface="Arial" pitchFamily="34" charset="0"/>
                <a:cs typeface="Arial" pitchFamily="34" charset="0"/>
              </a:rPr>
              <a:t>lượng</a:t>
            </a:r>
            <a:r>
              <a:rPr lang="en-US" sz="28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latin typeface="Arial" pitchFamily="34" charset="0"/>
                <a:cs typeface="Arial" pitchFamily="34" charset="0"/>
              </a:rPr>
              <a:t>đặc</a:t>
            </a:r>
            <a:r>
              <a:rPr lang="en-US" sz="28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latin typeface="Arial" pitchFamily="34" charset="0"/>
                <a:cs typeface="Arial" pitchFamily="34" charset="0"/>
              </a:rPr>
              <a:t>trưng</a:t>
            </a:r>
            <a:r>
              <a:rPr lang="en-US" sz="28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latin typeface="Arial" pitchFamily="34" charset="0"/>
                <a:cs typeface="Arial" pitchFamily="34" charset="0"/>
              </a:rPr>
              <a:t>cho</a:t>
            </a:r>
            <a:r>
              <a:rPr lang="en-US" sz="28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latin typeface="Arial" pitchFamily="34" charset="0"/>
                <a:cs typeface="Arial" pitchFamily="34" charset="0"/>
              </a:rPr>
              <a:t>dd</a:t>
            </a:r>
            <a:r>
              <a:rPr lang="en-US" sz="28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latin typeface="Arial" pitchFamily="34" charset="0"/>
                <a:cs typeface="Arial" pitchFamily="34" charset="0"/>
              </a:rPr>
              <a:t>bão</a:t>
            </a:r>
            <a:r>
              <a:rPr lang="en-US" sz="28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latin typeface="Arial" pitchFamily="34" charset="0"/>
                <a:cs typeface="Arial" pitchFamily="34" charset="0"/>
              </a:rPr>
              <a:t>hòa</a:t>
            </a:r>
            <a:endParaRPr lang="en-US" sz="28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1097E-3692-41EF-A35E-84877CCE1423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61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8" grpId="0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7293351"/>
              </p:ext>
            </p:extLst>
          </p:nvPr>
        </p:nvGraphicFramePr>
        <p:xfrm>
          <a:off x="514372" y="1608909"/>
          <a:ext cx="5749268" cy="13694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0" name="Equation" r:id="rId3" imgW="1917360" imgH="457200" progId="Equation.3">
                  <p:embed/>
                </p:oleObj>
              </mc:Choice>
              <mc:Fallback>
                <p:oleObj name="Equation" r:id="rId3" imgW="1917360" imgH="457200" progId="Equation.3">
                  <p:embed/>
                  <p:pic>
                    <p:nvPicPr>
                      <p:cNvPr id="3379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372" y="1608909"/>
                        <a:ext cx="5749268" cy="1369422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514372" y="576912"/>
            <a:ext cx="46373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 dirty="0" smtClean="0"/>
              <a:t>Phương</a:t>
            </a:r>
            <a:r>
              <a:rPr lang="en-US" sz="2800" b="1" dirty="0"/>
              <a:t> </a:t>
            </a:r>
            <a:r>
              <a:rPr lang="en-US" sz="2800" b="1" dirty="0" err="1" smtClean="0"/>
              <a:t>trình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chuẩn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độ</a:t>
            </a:r>
            <a:endParaRPr lang="en-US" sz="2800" b="1" dirty="0"/>
          </a:p>
        </p:txBody>
      </p:sp>
      <p:graphicFrame>
        <p:nvGraphicFramePr>
          <p:cNvPr id="5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8592582"/>
              </p:ext>
            </p:extLst>
          </p:nvPr>
        </p:nvGraphicFramePr>
        <p:xfrm>
          <a:off x="2014423" y="3917510"/>
          <a:ext cx="1637212" cy="11217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1" name="Equation" r:id="rId5" imgW="634680" imgH="431640" progId="Equation.3">
                  <p:embed/>
                </p:oleObj>
              </mc:Choice>
              <mc:Fallback>
                <p:oleObj name="Equation" r:id="rId5" imgW="634680" imgH="431640" progId="Equation.3">
                  <p:embed/>
                  <p:pic>
                    <p:nvPicPr>
                      <p:cNvPr id="25601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4423" y="3917510"/>
                        <a:ext cx="1637212" cy="1121717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5"/>
          <p:cNvGrpSpPr/>
          <p:nvPr/>
        </p:nvGrpSpPr>
        <p:grpSpPr>
          <a:xfrm>
            <a:off x="7986619" y="576912"/>
            <a:ext cx="2165398" cy="5691187"/>
            <a:chOff x="6724650" y="1090613"/>
            <a:chExt cx="2165398" cy="5691187"/>
          </a:xfrm>
        </p:grpSpPr>
        <p:sp>
          <p:nvSpPr>
            <p:cNvPr id="7" name="Text Box 22"/>
            <p:cNvSpPr txBox="1">
              <a:spLocks noChangeArrowheads="1"/>
            </p:cNvSpPr>
            <p:nvPr/>
          </p:nvSpPr>
          <p:spPr bwMode="auto">
            <a:xfrm>
              <a:off x="7581739" y="2362200"/>
              <a:ext cx="1266116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chemeClr val="accent2"/>
                  </a:solidFill>
                  <a:latin typeface="Arial" pitchFamily="34" charset="0"/>
                  <a:cs typeface="Arial" pitchFamily="34" charset="0"/>
                </a:rPr>
                <a:t>V</a:t>
              </a:r>
              <a:r>
                <a:rPr lang="en-US" b="1" dirty="0">
                  <a:latin typeface="Arial" pitchFamily="34" charset="0"/>
                  <a:cs typeface="Arial" pitchFamily="34" charset="0"/>
                </a:rPr>
                <a:t> </a:t>
              </a:r>
              <a:r>
                <a:rPr lang="en-US" b="1" dirty="0">
                  <a:solidFill>
                    <a:schemeClr val="accent2"/>
                  </a:solidFill>
                  <a:latin typeface="Arial" pitchFamily="34" charset="0"/>
                  <a:cs typeface="Arial" pitchFamily="34" charset="0"/>
                </a:rPr>
                <a:t>: ml Ag</a:t>
              </a:r>
              <a:r>
                <a:rPr lang="en-US" b="1" baseline="30000" dirty="0">
                  <a:solidFill>
                    <a:schemeClr val="accent2"/>
                  </a:solidFill>
                  <a:latin typeface="Arial" pitchFamily="34" charset="0"/>
                  <a:cs typeface="Arial" pitchFamily="34" charset="0"/>
                </a:rPr>
                <a:t>+</a:t>
              </a:r>
              <a:endParaRPr lang="en-US" b="1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8" name="Picture 23" descr="burett_bech_agit.gif (1961 octets)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6724650" y="1295400"/>
              <a:ext cx="793601" cy="54864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" name="Text Box 24"/>
            <p:cNvSpPr txBox="1">
              <a:spLocks noChangeArrowheads="1"/>
            </p:cNvSpPr>
            <p:nvPr/>
          </p:nvSpPr>
          <p:spPr bwMode="auto">
            <a:xfrm>
              <a:off x="7435490" y="5965825"/>
              <a:ext cx="1454558" cy="42703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200" b="1">
                  <a:solidFill>
                    <a:srgbClr val="FD2D32"/>
                  </a:solidFill>
                  <a:latin typeface="Arial" pitchFamily="34" charset="0"/>
                  <a:cs typeface="Arial" pitchFamily="34" charset="0"/>
                </a:rPr>
                <a:t>X</a:t>
              </a:r>
              <a:r>
                <a:rPr lang="en-US" sz="2200" b="1" baseline="30000">
                  <a:solidFill>
                    <a:srgbClr val="FD2D32"/>
                  </a:solidFill>
                  <a:latin typeface="Arial" pitchFamily="34" charset="0"/>
                  <a:cs typeface="Arial" pitchFamily="34" charset="0"/>
                </a:rPr>
                <a:t>-</a:t>
              </a:r>
              <a:r>
                <a:rPr lang="en-US" sz="2200" b="1">
                  <a:solidFill>
                    <a:srgbClr val="FD2D32"/>
                  </a:solidFill>
                  <a:latin typeface="Arial" pitchFamily="34" charset="0"/>
                  <a:cs typeface="Arial" pitchFamily="34" charset="0"/>
                </a:rPr>
                <a:t> (V</a:t>
              </a:r>
              <a:r>
                <a:rPr lang="en-US" sz="2200" b="1" baseline="-25000">
                  <a:solidFill>
                    <a:srgbClr val="FD2D32"/>
                  </a:solidFill>
                  <a:latin typeface="Arial" pitchFamily="34" charset="0"/>
                  <a:cs typeface="Arial" pitchFamily="34" charset="0"/>
                </a:rPr>
                <a:t>0</a:t>
              </a:r>
              <a:r>
                <a:rPr lang="en-US" sz="2200" b="1">
                  <a:solidFill>
                    <a:srgbClr val="FD2D32"/>
                  </a:solidFill>
                  <a:latin typeface="Arial" pitchFamily="34" charset="0"/>
                  <a:cs typeface="Arial" pitchFamily="34" charset="0"/>
                </a:rPr>
                <a:t>, C</a:t>
              </a:r>
              <a:r>
                <a:rPr lang="en-US" sz="2200" b="1" baseline="-25000">
                  <a:solidFill>
                    <a:srgbClr val="FD2D32"/>
                  </a:solidFill>
                  <a:latin typeface="Arial" pitchFamily="34" charset="0"/>
                  <a:cs typeface="Arial" pitchFamily="34" charset="0"/>
                </a:rPr>
                <a:t>0</a:t>
              </a:r>
              <a:r>
                <a:rPr lang="en-US" sz="2200" b="1">
                  <a:solidFill>
                    <a:srgbClr val="FD2D32"/>
                  </a:solidFill>
                  <a:latin typeface="Arial" pitchFamily="34" charset="0"/>
                  <a:cs typeface="Arial" pitchFamily="34" charset="0"/>
                </a:rPr>
                <a:t>)</a:t>
              </a:r>
            </a:p>
          </p:txBody>
        </p:sp>
        <p:sp>
          <p:nvSpPr>
            <p:cNvPr id="10" name="Text Box 25"/>
            <p:cNvSpPr txBox="1">
              <a:spLocks noChangeArrowheads="1"/>
            </p:cNvSpPr>
            <p:nvPr/>
          </p:nvSpPr>
          <p:spPr bwMode="auto">
            <a:xfrm>
              <a:off x="7326653" y="1090613"/>
              <a:ext cx="1197204" cy="427037"/>
            </a:xfrm>
            <a:prstGeom prst="rect">
              <a:avLst/>
            </a:prstGeom>
            <a:solidFill>
              <a:srgbClr val="800080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2200" b="1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Ag+ (C)</a:t>
              </a:r>
            </a:p>
          </p:txBody>
        </p:sp>
        <p:sp>
          <p:nvSpPr>
            <p:cNvPr id="11" name="AutoShape 26"/>
            <p:cNvSpPr>
              <a:spLocks/>
            </p:cNvSpPr>
            <p:nvPr/>
          </p:nvSpPr>
          <p:spPr bwMode="auto">
            <a:xfrm>
              <a:off x="7217816" y="1524000"/>
              <a:ext cx="272092" cy="2133600"/>
            </a:xfrm>
            <a:prstGeom prst="rightBrace">
              <a:avLst>
                <a:gd name="adj1" fmla="val 4666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77894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52600" y="481014"/>
            <a:ext cx="8705456" cy="6148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39939" name="Object 3"/>
          <p:cNvGraphicFramePr>
            <a:graphicFrameLocks noChangeAspect="1"/>
          </p:cNvGraphicFramePr>
          <p:nvPr/>
        </p:nvGraphicFramePr>
        <p:xfrm>
          <a:off x="4343401" y="1003853"/>
          <a:ext cx="1524000" cy="4729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0" name="Equation" r:id="rId4" imgW="736560" imgH="228600" progId="Equation.3">
                  <p:embed/>
                </p:oleObj>
              </mc:Choice>
              <mc:Fallback>
                <p:oleObj name="Equation" r:id="rId4" imgW="736560" imgH="228600" progId="Equation.3">
                  <p:embed/>
                  <p:pic>
                    <p:nvPicPr>
                      <p:cNvPr id="3993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1" y="1003853"/>
                        <a:ext cx="1524000" cy="47296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0" name="Object 4"/>
          <p:cNvGraphicFramePr>
            <a:graphicFrameLocks noChangeAspect="1"/>
          </p:cNvGraphicFramePr>
          <p:nvPr/>
        </p:nvGraphicFramePr>
        <p:xfrm>
          <a:off x="3733732" y="2286000"/>
          <a:ext cx="3008313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1" name="Equation" r:id="rId6" imgW="1320480" imgH="431640" progId="Equation.3">
                  <p:embed/>
                </p:oleObj>
              </mc:Choice>
              <mc:Fallback>
                <p:oleObj name="Equation" r:id="rId6" imgW="1320480" imgH="431640" progId="Equation.3">
                  <p:embed/>
                  <p:pic>
                    <p:nvPicPr>
                      <p:cNvPr id="3994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732" y="2286000"/>
                        <a:ext cx="3008313" cy="9588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1" name="Object 5"/>
          <p:cNvGraphicFramePr>
            <a:graphicFrameLocks noChangeAspect="1"/>
          </p:cNvGraphicFramePr>
          <p:nvPr/>
        </p:nvGraphicFramePr>
        <p:xfrm>
          <a:off x="4191000" y="3994511"/>
          <a:ext cx="1981201" cy="49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2" name="Equation" r:id="rId8" imgW="952200" imgH="241200" progId="Equation.3">
                  <p:embed/>
                </p:oleObj>
              </mc:Choice>
              <mc:Fallback>
                <p:oleObj name="Equation" r:id="rId8" imgW="952200" imgH="241200" progId="Equation.3">
                  <p:embed/>
                  <p:pic>
                    <p:nvPicPr>
                      <p:cNvPr id="3994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3994511"/>
                        <a:ext cx="1981201" cy="4997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2" name="Object 6"/>
          <p:cNvGraphicFramePr>
            <a:graphicFrameLocks noChangeAspect="1"/>
          </p:cNvGraphicFramePr>
          <p:nvPr/>
        </p:nvGraphicFramePr>
        <p:xfrm>
          <a:off x="3607904" y="4953000"/>
          <a:ext cx="3200400" cy="7945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3" name="Equation" r:id="rId10" imgW="1739880" imgH="431640" progId="Equation.3">
                  <p:embed/>
                </p:oleObj>
              </mc:Choice>
              <mc:Fallback>
                <p:oleObj name="Equation" r:id="rId10" imgW="1739880" imgH="431640" progId="Equation.3">
                  <p:embed/>
                  <p:pic>
                    <p:nvPicPr>
                      <p:cNvPr id="3994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7904" y="4953000"/>
                        <a:ext cx="3200400" cy="79451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1097E-3692-41EF-A35E-84877CCE1423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748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0446" y="535325"/>
            <a:ext cx="10006148" cy="5680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dirty="0" err="1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Câu</a:t>
            </a:r>
            <a:r>
              <a:rPr lang="en-US" dirty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11 : </a:t>
            </a:r>
            <a:r>
              <a:rPr lang="en-US" dirty="0" err="1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Tính</a:t>
            </a:r>
            <a:r>
              <a:rPr lang="en-US" dirty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pH </a:t>
            </a:r>
            <a:r>
              <a:rPr lang="en-US" dirty="0" err="1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dung </a:t>
            </a:r>
            <a:r>
              <a:rPr lang="en-US" dirty="0" err="1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dịch</a:t>
            </a:r>
            <a:r>
              <a:rPr lang="en-US" dirty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H</a:t>
            </a:r>
            <a:r>
              <a:rPr lang="en-US" baseline="-25000" dirty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dirty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SO</a:t>
            </a:r>
            <a:r>
              <a:rPr lang="en-US" baseline="-25000" dirty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4</a:t>
            </a:r>
            <a:r>
              <a:rPr lang="en-US" dirty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0,01M:   </a:t>
            </a:r>
            <a:r>
              <a:rPr lang="en-US" b="1" dirty="0" smtClean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1,699</a:t>
            </a:r>
            <a:r>
              <a:rPr lang="en-US" dirty="0" smtClean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      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 err="1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Câu</a:t>
            </a:r>
            <a:r>
              <a:rPr lang="en-US" dirty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12:  </a:t>
            </a:r>
            <a:r>
              <a:rPr lang="en-US" dirty="0" err="1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Tính</a:t>
            </a:r>
            <a:r>
              <a:rPr lang="en-US" dirty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pH </a:t>
            </a:r>
            <a:r>
              <a:rPr lang="en-US" dirty="0" err="1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dung </a:t>
            </a:r>
            <a:r>
              <a:rPr lang="en-US" dirty="0" err="1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dịch</a:t>
            </a:r>
            <a:r>
              <a:rPr lang="en-US" dirty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CH</a:t>
            </a:r>
            <a:r>
              <a:rPr lang="en-US" baseline="-25000" dirty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en-US" dirty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COONa 0,1M </a:t>
            </a:r>
            <a:r>
              <a:rPr lang="en-US" dirty="0" err="1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en-US" dirty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CH</a:t>
            </a:r>
            <a:r>
              <a:rPr lang="en-US" baseline="-25000" dirty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en-US" dirty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COOH 0,01M (</a:t>
            </a:r>
            <a:r>
              <a:rPr lang="en-US" dirty="0" err="1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pKa</a:t>
            </a:r>
            <a:r>
              <a:rPr lang="en-US" dirty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=4,75): </a:t>
            </a:r>
            <a:r>
              <a:rPr lang="en-US" dirty="0" smtClean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smtClean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5,75 </a:t>
            </a:r>
            <a:endParaRPr lang="en-US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 err="1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Câu</a:t>
            </a:r>
            <a:r>
              <a:rPr lang="en-US" dirty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13:  </a:t>
            </a:r>
            <a:r>
              <a:rPr lang="en-US" dirty="0" err="1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Tính</a:t>
            </a:r>
            <a:r>
              <a:rPr lang="en-US" dirty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hệ</a:t>
            </a:r>
            <a:r>
              <a:rPr lang="en-US" dirty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số</a:t>
            </a:r>
            <a:r>
              <a:rPr lang="en-US" dirty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hoạt</a:t>
            </a:r>
            <a:r>
              <a:rPr lang="en-US" dirty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độ</a:t>
            </a:r>
            <a:r>
              <a:rPr lang="en-US" dirty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 </a:t>
            </a:r>
            <a:r>
              <a:rPr lang="en-US" dirty="0" err="1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ion Cl</a:t>
            </a:r>
            <a:r>
              <a:rPr lang="en-US" baseline="30000" dirty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-</a:t>
            </a:r>
            <a:r>
              <a:rPr lang="en-US" dirty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trong</a:t>
            </a:r>
            <a:r>
              <a:rPr lang="en-US" dirty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dung </a:t>
            </a:r>
            <a:r>
              <a:rPr lang="en-US" dirty="0" err="1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dịch</a:t>
            </a:r>
            <a:r>
              <a:rPr lang="en-US" dirty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CaCl</a:t>
            </a:r>
            <a:r>
              <a:rPr lang="en-US" baseline="-25000" dirty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dirty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smtClean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0,001 </a:t>
            </a:r>
            <a:r>
              <a:rPr lang="en-US" dirty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M: </a:t>
            </a:r>
            <a:r>
              <a:rPr lang="en-US" b="1" dirty="0" smtClean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0,0009</a:t>
            </a:r>
            <a:endParaRPr lang="en-US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 err="1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Câu</a:t>
            </a:r>
            <a:r>
              <a:rPr lang="en-US" dirty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14: 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Tính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sai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số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chuẩn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độ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</a:t>
            </a:r>
            <a:r>
              <a:rPr lang="en-US" sz="2000" dirty="0" smtClean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(%) dung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dịch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HCl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0,1M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bằng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dung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dịch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NaOH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0,1M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nếu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kết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thúc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chuẩn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độ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ở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pHc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= 5,0:  </a:t>
            </a:r>
            <a:r>
              <a:rPr lang="en-US" sz="2000" b="1" dirty="0" smtClean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-0,02% </a:t>
            </a:r>
            <a:r>
              <a:rPr lang="en-US" sz="2000" b="1" dirty="0" err="1" smtClean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hoặc</a:t>
            </a:r>
            <a:r>
              <a:rPr lang="en-US" sz="2000" b="1" dirty="0" smtClean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-0,0002</a:t>
            </a:r>
            <a:endParaRPr lang="en-US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 err="1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Câu</a:t>
            </a:r>
            <a:r>
              <a:rPr lang="en-US" dirty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15: 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Chuẩn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độ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50ml acid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yếu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HA 0,1M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có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Ka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= 10</a:t>
            </a:r>
            <a:r>
              <a:rPr lang="en-US" sz="2000" baseline="30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-5,5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bằng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10 mL dung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dịch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NaOH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    0,1M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thì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pH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của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dung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dịch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trong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bình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nón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là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bao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nhiêu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: </a:t>
            </a:r>
            <a:r>
              <a:rPr lang="en-US" sz="2000" b="1" dirty="0" smtClean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4,898</a:t>
            </a:r>
            <a:endParaRPr lang="en-US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 err="1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Câu</a:t>
            </a:r>
            <a:r>
              <a:rPr lang="en-US" dirty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16 : 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Sai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số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chỉ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thị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của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chuẩn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độ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dung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dịch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HCl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0,1M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bằng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dung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dịch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NaOH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0,1M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thì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kết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thúc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trong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khoảng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pT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=5: </a:t>
            </a:r>
            <a:r>
              <a:rPr lang="en-US" sz="2000" b="1" dirty="0" smtClean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-0,02%</a:t>
            </a:r>
            <a:endParaRPr lang="en-US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 err="1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Câu</a:t>
            </a:r>
            <a:r>
              <a:rPr lang="en-US" dirty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18 :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Chuẩn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độ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25ml dung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dịch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Fe</a:t>
            </a:r>
            <a:r>
              <a:rPr lang="en-US" sz="2000" baseline="30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2+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0,01M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bằng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Ce</a:t>
            </a:r>
            <a:r>
              <a:rPr lang="en-US" sz="2000" baseline="30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4+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0,01M.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Khi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thêm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vào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được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12,00 ml dung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dịch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Ce</a:t>
            </a:r>
            <a:r>
              <a:rPr lang="en-US" sz="2000" baseline="30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4+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thì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thế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của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dung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dịch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là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bao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nhiêu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?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Biết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E</a:t>
            </a:r>
            <a:r>
              <a:rPr lang="en-US" sz="2000" baseline="-25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0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Fe3</a:t>
            </a:r>
            <a:r>
              <a:rPr lang="en-US" sz="2800" dirty="0">
                <a:solidFill>
                  <a:srgbClr val="000000"/>
                </a:solidFill>
                <a:latin typeface="Symbol" panose="05050102010706020507" pitchFamily="18" charset="2"/>
                <a:ea typeface="Times New Roman" panose="02020603050405020304" pitchFamily="18" charset="0"/>
                <a:sym typeface="Symbol" panose="05050102010706020507" pitchFamily="18" charset="2"/>
              </a:rPr>
              <a:t>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/Fe2</a:t>
            </a:r>
            <a:r>
              <a:rPr lang="en-US" sz="2800" dirty="0">
                <a:solidFill>
                  <a:srgbClr val="000000"/>
                </a:solidFill>
                <a:latin typeface="Symbol" panose="05050102010706020507" pitchFamily="18" charset="2"/>
                <a:ea typeface="Times New Roman" panose="02020603050405020304" pitchFamily="18" charset="0"/>
                <a:sym typeface="Symbol" panose="05050102010706020507" pitchFamily="18" charset="2"/>
              </a:rPr>
              <a:t></a:t>
            </a:r>
            <a:r>
              <a:rPr lang="en-US" sz="2800" dirty="0">
                <a:solidFill>
                  <a:srgbClr val="000000"/>
                </a:solidFill>
                <a:latin typeface="Symbol" panose="05050102010706020507" pitchFamily="18" charset="2"/>
                <a:ea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000000"/>
                </a:solidFill>
                <a:latin typeface="Symbol" panose="05050102010706020507" pitchFamily="18" charset="2"/>
                <a:ea typeface="Times New Roman" panose="02020603050405020304" pitchFamily="18" charset="0"/>
                <a:sym typeface="Symbol" panose="05050102010706020507" pitchFamily="18" charset="2"/>
              </a:rPr>
              <a:t></a:t>
            </a:r>
            <a:r>
              <a:rPr lang="en-US" sz="2800" dirty="0">
                <a:solidFill>
                  <a:srgbClr val="000000"/>
                </a:solidFill>
                <a:latin typeface="Symbol" panose="05050102010706020507" pitchFamily="18" charset="2"/>
                <a:ea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0,77V </a:t>
            </a:r>
            <a:r>
              <a:rPr lang="en-US" sz="2000" dirty="0" smtClean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;E</a:t>
            </a:r>
            <a:r>
              <a:rPr lang="en-US" sz="2000" baseline="-25000" dirty="0" smtClean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0</a:t>
            </a:r>
            <a:r>
              <a:rPr lang="en-US" sz="2000" dirty="0" smtClean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 </a:t>
            </a:r>
            <a:r>
              <a:rPr lang="en-US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Aptos"/>
              </a:rPr>
              <a:t>Ce4</a:t>
            </a:r>
            <a:r>
              <a:rPr lang="en-US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Aptos"/>
                <a:sym typeface="Symbol" panose="05050102010706020507" pitchFamily="18" charset="2"/>
              </a:rPr>
              <a:t></a:t>
            </a:r>
            <a:r>
              <a:rPr lang="en-US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Aptos"/>
              </a:rPr>
              <a:t>/Ce3</a:t>
            </a:r>
            <a:r>
              <a:rPr lang="en-US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Aptos"/>
                <a:sym typeface="Symbol" panose="05050102010706020507" pitchFamily="18" charset="2"/>
              </a:rPr>
              <a:t></a:t>
            </a:r>
            <a:r>
              <a:rPr lang="en-US" dirty="0">
                <a:latin typeface="Times New Roman" panose="02020603050405020304" pitchFamily="18" charset="0"/>
                <a:ea typeface="Aptos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 =1,44V: </a:t>
            </a:r>
            <a:r>
              <a:rPr lang="en-US" sz="2000" dirty="0" smtClean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……</a:t>
            </a:r>
            <a:r>
              <a:rPr lang="en-US" sz="2000" b="1" dirty="0" smtClean="0">
                <a:latin typeface="TimesNewRomanPSMT"/>
                <a:ea typeface="Times New Roman" panose="02020603050405020304" pitchFamily="18" charset="0"/>
              </a:rPr>
              <a:t>0,772</a:t>
            </a:r>
            <a:r>
              <a:rPr lang="en-US" sz="2000" dirty="0" smtClean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……………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kern="100" dirty="0" err="1">
                <a:solidFill>
                  <a:srgbClr val="0D0D0D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Câu</a:t>
            </a:r>
            <a:r>
              <a:rPr lang="en-US" kern="100" dirty="0">
                <a:solidFill>
                  <a:srgbClr val="0D0D0D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 19: </a:t>
            </a:r>
            <a:r>
              <a:rPr lang="en-US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20ml dung </a:t>
            </a:r>
            <a:r>
              <a:rPr lang="en-US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Fe</a:t>
            </a:r>
            <a:r>
              <a:rPr lang="en-US" kern="0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2+</a:t>
            </a:r>
            <a:r>
              <a:rPr 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0,1N </a:t>
            </a:r>
            <a:r>
              <a:rPr lang="en-US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dung </a:t>
            </a:r>
            <a:r>
              <a:rPr lang="en-US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KMnO</a:t>
            </a:r>
            <a:r>
              <a:rPr lang="en-US" kern="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0,1N </a:t>
            </a:r>
            <a:r>
              <a:rPr lang="en-US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môi</a:t>
            </a:r>
            <a:r>
              <a:rPr 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</a:t>
            </a:r>
            <a:r>
              <a:rPr lang="en-US" kern="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</a:t>
            </a:r>
            <a:r>
              <a:rPr lang="en-US" kern="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pH = 0. </a:t>
            </a:r>
            <a:r>
              <a:rPr lang="en-US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20ml dung </a:t>
            </a:r>
            <a:r>
              <a:rPr lang="en-US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KMnO</a:t>
            </a:r>
            <a:r>
              <a:rPr lang="en-US" kern="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dung</a:t>
            </a:r>
            <a:r>
              <a:rPr lang="en-US" kern="100" dirty="0">
                <a:solidFill>
                  <a:srgbClr val="000000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000000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dịch</a:t>
            </a:r>
            <a:r>
              <a:rPr lang="en-US" kern="100" dirty="0">
                <a:solidFill>
                  <a:srgbClr val="000000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000000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là</a:t>
            </a:r>
            <a:r>
              <a:rPr lang="en-US" kern="100" dirty="0">
                <a:solidFill>
                  <a:srgbClr val="000000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000000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bao</a:t>
            </a:r>
            <a:r>
              <a:rPr lang="en-US" kern="100" dirty="0">
                <a:solidFill>
                  <a:srgbClr val="000000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000000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nhiêu</a:t>
            </a:r>
            <a:r>
              <a:rPr lang="en-US" kern="100" dirty="0">
                <a:solidFill>
                  <a:srgbClr val="000000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, </a:t>
            </a:r>
            <a:r>
              <a:rPr lang="en-US" kern="100" dirty="0" err="1">
                <a:solidFill>
                  <a:srgbClr val="000000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biết</a:t>
            </a:r>
            <a:r>
              <a:rPr lang="en-US" kern="100" dirty="0">
                <a:solidFill>
                  <a:srgbClr val="000000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 </a:t>
            </a:r>
            <a:r>
              <a:rPr lang="en-US" sz="2000" kern="100" dirty="0">
                <a:solidFill>
                  <a:srgbClr val="000000"/>
                </a:solidFill>
                <a:latin typeface="TimesNewRomanPSMT"/>
                <a:ea typeface="Aptos"/>
                <a:cs typeface="Times New Roman" panose="02020603050405020304" pitchFamily="18" charset="0"/>
              </a:rPr>
              <a:t>E</a:t>
            </a:r>
            <a:r>
              <a:rPr lang="en-US" sz="2000" kern="100" baseline="-25000" dirty="0">
                <a:solidFill>
                  <a:srgbClr val="000000"/>
                </a:solidFill>
                <a:latin typeface="TimesNewRomanPSMT"/>
                <a:ea typeface="Aptos"/>
                <a:cs typeface="Times New Roman" panose="02020603050405020304" pitchFamily="18" charset="0"/>
              </a:rPr>
              <a:t>0</a:t>
            </a:r>
            <a:r>
              <a:rPr lang="en-US" sz="2000" kern="100" dirty="0">
                <a:solidFill>
                  <a:srgbClr val="000000"/>
                </a:solidFill>
                <a:latin typeface="TimesNewRomanPSMT"/>
                <a:ea typeface="Aptos"/>
                <a:cs typeface="Times New Roman" panose="02020603050405020304" pitchFamily="18" charset="0"/>
              </a:rPr>
              <a:t>Fe</a:t>
            </a:r>
            <a:r>
              <a:rPr lang="en-US" sz="2000" kern="100" baseline="30000" dirty="0">
                <a:solidFill>
                  <a:srgbClr val="000000"/>
                </a:solidFill>
                <a:latin typeface="TimesNewRomanPSMT"/>
                <a:ea typeface="Aptos"/>
                <a:cs typeface="Times New Roman" panose="02020603050405020304" pitchFamily="18" charset="0"/>
              </a:rPr>
              <a:t>3</a:t>
            </a:r>
            <a:r>
              <a:rPr lang="en-US" sz="2800" kern="100" baseline="30000" dirty="0">
                <a:solidFill>
                  <a:srgbClr val="000000"/>
                </a:solidFill>
                <a:latin typeface="Symbol" panose="05050102010706020507" pitchFamily="18" charset="2"/>
                <a:ea typeface="Aptos"/>
                <a:cs typeface="Times New Roman" panose="02020603050405020304" pitchFamily="18" charset="0"/>
                <a:sym typeface="Symbol" panose="05050102010706020507" pitchFamily="18" charset="2"/>
              </a:rPr>
              <a:t></a:t>
            </a:r>
            <a:r>
              <a:rPr lang="en-US" sz="2800" kern="100" dirty="0">
                <a:solidFill>
                  <a:srgbClr val="000000"/>
                </a:solidFill>
                <a:latin typeface="Symbol" panose="05050102010706020507" pitchFamily="18" charset="2"/>
                <a:ea typeface="Aptos"/>
                <a:cs typeface="Times New Roman" panose="02020603050405020304" pitchFamily="18" charset="0"/>
              </a:rPr>
              <a:t> </a:t>
            </a:r>
            <a:r>
              <a:rPr lang="en-US" sz="2000" kern="100" dirty="0">
                <a:solidFill>
                  <a:srgbClr val="000000"/>
                </a:solidFill>
                <a:latin typeface="TimesNewRomanPSMT"/>
                <a:ea typeface="Aptos"/>
                <a:cs typeface="Times New Roman" panose="02020603050405020304" pitchFamily="18" charset="0"/>
              </a:rPr>
              <a:t>/Fe</a:t>
            </a:r>
            <a:r>
              <a:rPr lang="en-US" sz="2000" kern="100" baseline="30000" dirty="0">
                <a:solidFill>
                  <a:srgbClr val="000000"/>
                </a:solidFill>
                <a:latin typeface="TimesNewRomanPSMT"/>
                <a:ea typeface="Aptos"/>
                <a:cs typeface="Times New Roman" panose="02020603050405020304" pitchFamily="18" charset="0"/>
              </a:rPr>
              <a:t>2</a:t>
            </a:r>
            <a:r>
              <a:rPr lang="en-US" sz="2800" kern="100" baseline="30000" dirty="0">
                <a:solidFill>
                  <a:srgbClr val="000000"/>
                </a:solidFill>
                <a:latin typeface="Symbol" panose="05050102010706020507" pitchFamily="18" charset="2"/>
                <a:ea typeface="Aptos"/>
                <a:cs typeface="Times New Roman" panose="02020603050405020304" pitchFamily="18" charset="0"/>
                <a:sym typeface="Symbol" panose="05050102010706020507" pitchFamily="18" charset="2"/>
              </a:rPr>
              <a:t></a:t>
            </a:r>
            <a:r>
              <a:rPr lang="en-US" sz="2800" kern="100" dirty="0">
                <a:solidFill>
                  <a:srgbClr val="000000"/>
                </a:solidFill>
                <a:latin typeface="Symbol" panose="05050102010706020507" pitchFamily="18" charset="2"/>
                <a:ea typeface="Aptos"/>
                <a:cs typeface="Times New Roman" panose="02020603050405020304" pitchFamily="18" charset="0"/>
              </a:rPr>
              <a:t> </a:t>
            </a:r>
            <a:r>
              <a:rPr lang="en-US" sz="2800" kern="100" dirty="0">
                <a:solidFill>
                  <a:srgbClr val="000000"/>
                </a:solidFill>
                <a:latin typeface="Symbol" panose="05050102010706020507" pitchFamily="18" charset="2"/>
                <a:ea typeface="Aptos"/>
                <a:cs typeface="Times New Roman" panose="02020603050405020304" pitchFamily="18" charset="0"/>
                <a:sym typeface="Symbol" panose="05050102010706020507" pitchFamily="18" charset="2"/>
              </a:rPr>
              <a:t></a:t>
            </a:r>
            <a:r>
              <a:rPr lang="en-US" sz="2000" kern="100" dirty="0">
                <a:solidFill>
                  <a:srgbClr val="000000"/>
                </a:solidFill>
                <a:latin typeface="TimesNewRomanPSMT"/>
                <a:ea typeface="Aptos"/>
                <a:cs typeface="Times New Roman" panose="02020603050405020304" pitchFamily="18" charset="0"/>
              </a:rPr>
              <a:t>0,77V ; E</a:t>
            </a:r>
            <a:r>
              <a:rPr lang="en-US" sz="2000" kern="100" baseline="-25000" dirty="0">
                <a:solidFill>
                  <a:srgbClr val="000000"/>
                </a:solidFill>
                <a:latin typeface="TimesNewRomanPSMT"/>
                <a:ea typeface="Aptos"/>
                <a:cs typeface="Times New Roman" panose="02020603050405020304" pitchFamily="18" charset="0"/>
              </a:rPr>
              <a:t>0</a:t>
            </a:r>
            <a:r>
              <a:rPr lang="en-US" sz="2000" kern="100" dirty="0">
                <a:solidFill>
                  <a:srgbClr val="000000"/>
                </a:solidFill>
                <a:latin typeface="TimesNewRomanPSMT"/>
                <a:ea typeface="Aptos"/>
                <a:cs typeface="Times New Roman" panose="02020603050405020304" pitchFamily="18" charset="0"/>
              </a:rPr>
              <a:t>MnO </a:t>
            </a:r>
            <a:r>
              <a:rPr lang="en-US" sz="2000" kern="100" baseline="30000" dirty="0">
                <a:solidFill>
                  <a:srgbClr val="000000"/>
                </a:solidFill>
                <a:latin typeface="TimesNewRomanPSMT"/>
                <a:ea typeface="Aptos"/>
                <a:cs typeface="Times New Roman" panose="02020603050405020304" pitchFamily="18" charset="0"/>
              </a:rPr>
              <a:t>-4</a:t>
            </a:r>
            <a:r>
              <a:rPr lang="en-US" sz="2000" kern="100" dirty="0">
                <a:solidFill>
                  <a:srgbClr val="000000"/>
                </a:solidFill>
                <a:latin typeface="TimesNewRomanPSMT"/>
                <a:ea typeface="Aptos"/>
                <a:cs typeface="Times New Roman" panose="02020603050405020304" pitchFamily="18" charset="0"/>
              </a:rPr>
              <a:t>/</a:t>
            </a:r>
            <a:r>
              <a:rPr lang="en-US" sz="2000" kern="100" dirty="0" err="1">
                <a:solidFill>
                  <a:srgbClr val="000000"/>
                </a:solidFill>
                <a:latin typeface="TimesNewRomanPSMT"/>
                <a:ea typeface="Aptos"/>
                <a:cs typeface="Times New Roman" panose="02020603050405020304" pitchFamily="18" charset="0"/>
              </a:rPr>
              <a:t>Mn</a:t>
            </a:r>
            <a:r>
              <a:rPr lang="en-US" sz="2000" kern="100" dirty="0">
                <a:solidFill>
                  <a:srgbClr val="000000"/>
                </a:solidFill>
                <a:latin typeface="TimesNewRomanPSMT"/>
                <a:ea typeface="Aptos"/>
                <a:cs typeface="Times New Roman" panose="02020603050405020304" pitchFamily="18" charset="0"/>
              </a:rPr>
              <a:t> </a:t>
            </a:r>
            <a:r>
              <a:rPr lang="en-US" sz="2000" kern="100" baseline="30000" dirty="0">
                <a:solidFill>
                  <a:srgbClr val="000000"/>
                </a:solidFill>
                <a:latin typeface="TimesNewRomanPSMT"/>
                <a:ea typeface="Aptos"/>
                <a:cs typeface="Times New Roman" panose="02020603050405020304" pitchFamily="18" charset="0"/>
              </a:rPr>
              <a:t>2</a:t>
            </a:r>
            <a:r>
              <a:rPr lang="en-US" sz="2800" kern="100" baseline="30000" dirty="0">
                <a:solidFill>
                  <a:srgbClr val="000000"/>
                </a:solidFill>
                <a:latin typeface="Symbol" panose="05050102010706020507" pitchFamily="18" charset="2"/>
                <a:ea typeface="Aptos"/>
                <a:cs typeface="Times New Roman" panose="02020603050405020304" pitchFamily="18" charset="0"/>
                <a:sym typeface="Symbol" panose="05050102010706020507" pitchFamily="18" charset="2"/>
              </a:rPr>
              <a:t></a:t>
            </a:r>
            <a:r>
              <a:rPr lang="en-US" sz="2800" kern="100" dirty="0">
                <a:solidFill>
                  <a:srgbClr val="000000"/>
                </a:solidFill>
                <a:latin typeface="Symbol" panose="05050102010706020507" pitchFamily="18" charset="2"/>
                <a:ea typeface="Aptos"/>
                <a:cs typeface="Times New Roman" panose="02020603050405020304" pitchFamily="18" charset="0"/>
              </a:rPr>
              <a:t> </a:t>
            </a:r>
            <a:r>
              <a:rPr lang="en-US" sz="2800" kern="100" dirty="0">
                <a:solidFill>
                  <a:srgbClr val="000000"/>
                </a:solidFill>
                <a:latin typeface="Symbol" panose="05050102010706020507" pitchFamily="18" charset="2"/>
                <a:ea typeface="Aptos"/>
                <a:cs typeface="Times New Roman" panose="02020603050405020304" pitchFamily="18" charset="0"/>
                <a:sym typeface="Symbol" panose="05050102010706020507" pitchFamily="18" charset="2"/>
              </a:rPr>
              <a:t></a:t>
            </a:r>
            <a:r>
              <a:rPr lang="en-US" sz="2000" kern="100" dirty="0" smtClean="0">
                <a:solidFill>
                  <a:srgbClr val="000000"/>
                </a:solidFill>
                <a:latin typeface="TimesNewRomanPSMT"/>
                <a:ea typeface="Aptos"/>
                <a:cs typeface="Times New Roman" panose="02020603050405020304" pitchFamily="18" charset="0"/>
              </a:rPr>
              <a:t>1,51V : </a:t>
            </a:r>
            <a:r>
              <a:rPr lang="en-US" sz="2000" b="1" kern="100" dirty="0" smtClean="0">
                <a:solidFill>
                  <a:srgbClr val="000000"/>
                </a:solidFill>
                <a:latin typeface="TimesNewRomanPSMT"/>
                <a:ea typeface="Aptos"/>
                <a:cs typeface="Times New Roman" panose="02020603050405020304" pitchFamily="18" charset="0"/>
              </a:rPr>
              <a:t>1,387</a:t>
            </a:r>
            <a:endParaRPr lang="en-US" b="1" kern="100" dirty="0">
              <a:latin typeface="Times New Roman" panose="02020603050405020304" pitchFamily="18" charset="0"/>
              <a:ea typeface="Aptos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 err="1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Câu</a:t>
            </a:r>
            <a:r>
              <a:rPr lang="en-US" dirty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20: </a:t>
            </a:r>
            <a:r>
              <a:rPr lang="en-US" dirty="0" err="1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Tính</a:t>
            </a:r>
            <a:r>
              <a:rPr lang="en-US" dirty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sai</a:t>
            </a:r>
            <a:r>
              <a:rPr lang="en-US" dirty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số</a:t>
            </a:r>
            <a:r>
              <a:rPr lang="en-US" dirty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chuẩn</a:t>
            </a:r>
            <a:r>
              <a:rPr lang="en-US" dirty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độ</a:t>
            </a:r>
            <a:r>
              <a:rPr lang="en-US" dirty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khi</a:t>
            </a:r>
            <a:r>
              <a:rPr lang="en-US" dirty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chuẩn</a:t>
            </a:r>
            <a:r>
              <a:rPr lang="en-US" dirty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độ</a:t>
            </a:r>
            <a:r>
              <a:rPr lang="en-US" dirty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dung </a:t>
            </a:r>
            <a:r>
              <a:rPr lang="en-US" dirty="0" err="1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dịch</a:t>
            </a:r>
            <a:r>
              <a:rPr lang="en-US" dirty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Fe</a:t>
            </a:r>
            <a:r>
              <a:rPr lang="en-US" baseline="30000" dirty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2+</a:t>
            </a:r>
            <a:r>
              <a:rPr lang="en-US" dirty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0,2M </a:t>
            </a:r>
            <a:r>
              <a:rPr lang="en-US" dirty="0" err="1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bằng</a:t>
            </a:r>
            <a:r>
              <a:rPr lang="en-US" dirty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dung </a:t>
            </a:r>
            <a:r>
              <a:rPr lang="en-US" dirty="0" err="1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dịch</a:t>
            </a:r>
            <a:r>
              <a:rPr lang="en-US" dirty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Ce</a:t>
            </a:r>
            <a:r>
              <a:rPr lang="en-US" baseline="30000" dirty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4+</a:t>
            </a:r>
            <a:r>
              <a:rPr lang="en-US" dirty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cùng</a:t>
            </a:r>
            <a:r>
              <a:rPr lang="en-US" dirty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nồng</a:t>
            </a:r>
            <a:r>
              <a:rPr lang="en-US" dirty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độ</a:t>
            </a:r>
            <a:r>
              <a:rPr lang="en-US" dirty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kết</a:t>
            </a:r>
            <a:r>
              <a:rPr lang="en-US" dirty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thúc</a:t>
            </a:r>
            <a:r>
              <a:rPr lang="en-US" dirty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ở </a:t>
            </a:r>
            <a:r>
              <a:rPr lang="en-US" dirty="0" err="1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thế</a:t>
            </a:r>
            <a:r>
              <a:rPr lang="en-US" dirty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1,20 V , 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E</a:t>
            </a:r>
            <a:r>
              <a:rPr lang="en-US" sz="2000" baseline="-25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0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Fe3</a:t>
            </a:r>
            <a:r>
              <a:rPr lang="en-US" sz="2800" dirty="0">
                <a:solidFill>
                  <a:srgbClr val="000000"/>
                </a:solidFill>
                <a:latin typeface="Symbol" panose="05050102010706020507" pitchFamily="18" charset="2"/>
                <a:ea typeface="Times New Roman" panose="02020603050405020304" pitchFamily="18" charset="0"/>
                <a:sym typeface="Symbol" panose="05050102010706020507" pitchFamily="18" charset="2"/>
              </a:rPr>
              <a:t>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/Fe2</a:t>
            </a:r>
            <a:r>
              <a:rPr lang="en-US" sz="2800" dirty="0">
                <a:solidFill>
                  <a:srgbClr val="000000"/>
                </a:solidFill>
                <a:latin typeface="Symbol" panose="05050102010706020507" pitchFamily="18" charset="2"/>
                <a:ea typeface="Times New Roman" panose="02020603050405020304" pitchFamily="18" charset="0"/>
                <a:sym typeface="Symbol" panose="05050102010706020507" pitchFamily="18" charset="2"/>
              </a:rPr>
              <a:t></a:t>
            </a:r>
            <a:r>
              <a:rPr lang="en-US" sz="2800" dirty="0">
                <a:solidFill>
                  <a:srgbClr val="000000"/>
                </a:solidFill>
                <a:latin typeface="Symbol" panose="05050102010706020507" pitchFamily="18" charset="2"/>
                <a:ea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000000"/>
                </a:solidFill>
                <a:latin typeface="Symbol" panose="05050102010706020507" pitchFamily="18" charset="2"/>
                <a:ea typeface="Times New Roman" panose="02020603050405020304" pitchFamily="18" charset="0"/>
                <a:sym typeface="Symbol" panose="05050102010706020507" pitchFamily="18" charset="2"/>
              </a:rPr>
              <a:t></a:t>
            </a:r>
            <a:r>
              <a:rPr lang="en-US" sz="2800" dirty="0">
                <a:solidFill>
                  <a:srgbClr val="000000"/>
                </a:solidFill>
                <a:latin typeface="Symbol" panose="05050102010706020507" pitchFamily="18" charset="2"/>
                <a:ea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0,68V ;E</a:t>
            </a:r>
            <a:r>
              <a:rPr lang="en-US" sz="2000" baseline="-25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0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 </a:t>
            </a:r>
            <a:r>
              <a:rPr lang="en-US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Aptos"/>
              </a:rPr>
              <a:t>Ce4</a:t>
            </a:r>
            <a:r>
              <a:rPr lang="en-US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Aptos"/>
                <a:sym typeface="Symbol" panose="05050102010706020507" pitchFamily="18" charset="2"/>
              </a:rPr>
              <a:t></a:t>
            </a:r>
            <a:r>
              <a:rPr lang="en-US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Aptos"/>
              </a:rPr>
              <a:t>/Ce3</a:t>
            </a:r>
            <a:r>
              <a:rPr lang="en-US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Aptos"/>
                <a:sym typeface="Symbol" panose="05050102010706020507" pitchFamily="18" charset="2"/>
              </a:rPr>
              <a:t></a:t>
            </a:r>
            <a:r>
              <a:rPr lang="en-US" dirty="0">
                <a:latin typeface="Times New Roman" panose="02020603050405020304" pitchFamily="18" charset="0"/>
                <a:ea typeface="Aptos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 =1,44V</a:t>
            </a:r>
            <a:r>
              <a:rPr lang="en-US" dirty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 </a:t>
            </a:r>
            <a:r>
              <a:rPr lang="en-US" dirty="0" smtClean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……: </a:t>
            </a:r>
            <a:r>
              <a:rPr lang="en-US" b="1" dirty="0" smtClean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0,008%…………..</a:t>
            </a:r>
            <a:endParaRPr lang="en-US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20574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898572" y="143692"/>
            <a:ext cx="37229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 smtClean="0">
                <a:solidFill>
                  <a:srgbClr val="FF0000"/>
                </a:solidFill>
              </a:rPr>
              <a:t>Hướng</a:t>
            </a:r>
            <a:r>
              <a:rPr lang="en-US" sz="2400" b="1" dirty="0" smtClean="0">
                <a:solidFill>
                  <a:srgbClr val="FF0000"/>
                </a:solidFill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</a:rPr>
              <a:t>dẫn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13508" y="953589"/>
            <a:ext cx="1120793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Câu</a:t>
            </a:r>
            <a:r>
              <a:rPr lang="en-US" dirty="0" smtClean="0"/>
              <a:t> 11: </a:t>
            </a:r>
            <a:r>
              <a:rPr lang="en-US" dirty="0" err="1" smtClean="0"/>
              <a:t>Áp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công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 : pH =-</a:t>
            </a:r>
            <a:r>
              <a:rPr lang="en-US" dirty="0" err="1" smtClean="0"/>
              <a:t>lg</a:t>
            </a:r>
            <a:r>
              <a:rPr lang="en-US" dirty="0" smtClean="0"/>
              <a:t>[H+]=-</a:t>
            </a:r>
            <a:r>
              <a:rPr lang="en-US" dirty="0" err="1" smtClean="0"/>
              <a:t>lg</a:t>
            </a:r>
            <a:r>
              <a:rPr lang="en-US" dirty="0" smtClean="0"/>
              <a:t>[ 0,02]</a:t>
            </a:r>
          </a:p>
          <a:p>
            <a:endParaRPr lang="en-US" dirty="0"/>
          </a:p>
          <a:p>
            <a:r>
              <a:rPr lang="en-US" dirty="0" err="1" smtClean="0"/>
              <a:t>Câu</a:t>
            </a:r>
            <a:r>
              <a:rPr lang="en-US" dirty="0" smtClean="0"/>
              <a:t> 12: </a:t>
            </a:r>
            <a:r>
              <a:rPr lang="en-US" dirty="0" err="1" smtClean="0"/>
              <a:t>Áp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công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: pH = </a:t>
            </a:r>
            <a:r>
              <a:rPr lang="en-US" dirty="0" err="1" smtClean="0"/>
              <a:t>pKa</a:t>
            </a:r>
            <a:r>
              <a:rPr lang="en-US" dirty="0" smtClean="0"/>
              <a:t> + </a:t>
            </a:r>
            <a:r>
              <a:rPr lang="en-US" dirty="0" err="1" smtClean="0"/>
              <a:t>lg</a:t>
            </a:r>
            <a:r>
              <a:rPr lang="en-US" dirty="0" smtClean="0"/>
              <a:t> (</a:t>
            </a:r>
            <a:r>
              <a:rPr lang="en-US" dirty="0" err="1" smtClean="0"/>
              <a:t>Cmuoi</a:t>
            </a:r>
            <a:r>
              <a:rPr lang="en-US" dirty="0" smtClean="0"/>
              <a:t>/</a:t>
            </a:r>
            <a:r>
              <a:rPr lang="en-US" dirty="0" err="1" smtClean="0"/>
              <a:t>Cacid</a:t>
            </a:r>
            <a:r>
              <a:rPr lang="en-US" dirty="0" smtClean="0"/>
              <a:t>)=4,75 + lg10=5,75</a:t>
            </a:r>
          </a:p>
          <a:p>
            <a:endParaRPr lang="en-US" dirty="0"/>
          </a:p>
          <a:p>
            <a:r>
              <a:rPr lang="en-US" dirty="0" err="1" smtClean="0"/>
              <a:t>Câu</a:t>
            </a:r>
            <a:r>
              <a:rPr lang="en-US" dirty="0" smtClean="0"/>
              <a:t> 13:  </a:t>
            </a:r>
            <a:r>
              <a:rPr lang="en-US" dirty="0" err="1" smtClean="0"/>
              <a:t>Áp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công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 : µ=1/2 (Z</a:t>
            </a:r>
            <a:r>
              <a:rPr lang="en-US" baseline="30000" dirty="0" smtClean="0"/>
              <a:t>2</a:t>
            </a:r>
            <a:r>
              <a:rPr lang="en-US" dirty="0" smtClean="0"/>
              <a:t>*C</a:t>
            </a:r>
            <a:r>
              <a:rPr lang="en-US" baseline="30000" dirty="0" smtClean="0"/>
              <a:t>2</a:t>
            </a:r>
            <a:r>
              <a:rPr lang="en-US" dirty="0" smtClean="0"/>
              <a:t>+..), </a:t>
            </a:r>
            <a:r>
              <a:rPr lang="en-US" dirty="0" err="1" smtClean="0"/>
              <a:t>sau</a:t>
            </a:r>
            <a:r>
              <a:rPr lang="en-US" dirty="0" smtClean="0"/>
              <a:t> </a:t>
            </a:r>
            <a:r>
              <a:rPr lang="en-US" dirty="0" err="1" smtClean="0"/>
              <a:t>đó</a:t>
            </a:r>
            <a:r>
              <a:rPr lang="en-US" dirty="0" smtClean="0"/>
              <a:t> </a:t>
            </a:r>
            <a:r>
              <a:rPr lang="en-US" dirty="0" err="1" smtClean="0"/>
              <a:t>lgf</a:t>
            </a:r>
            <a:r>
              <a:rPr lang="en-US" dirty="0" smtClean="0"/>
              <a:t>=-1/2*Z</a:t>
            </a:r>
            <a:r>
              <a:rPr lang="en-US" baseline="30000" dirty="0" smtClean="0"/>
              <a:t>2</a:t>
            </a:r>
            <a:r>
              <a:rPr lang="en-US" dirty="0" smtClean="0"/>
              <a:t>(µ^0.5)</a:t>
            </a:r>
          </a:p>
          <a:p>
            <a:endParaRPr lang="en-US" dirty="0"/>
          </a:p>
          <a:p>
            <a:r>
              <a:rPr lang="en-US" dirty="0" err="1" smtClean="0"/>
              <a:t>Câu</a:t>
            </a:r>
            <a:r>
              <a:rPr lang="en-US" dirty="0" smtClean="0"/>
              <a:t> 14: ở pH =5 &lt; pH=7, </a:t>
            </a:r>
            <a:r>
              <a:rPr lang="en-US" dirty="0" err="1" smtClean="0"/>
              <a:t>trước</a:t>
            </a:r>
            <a:r>
              <a:rPr lang="en-US" dirty="0" smtClean="0"/>
              <a:t> </a:t>
            </a:r>
            <a:r>
              <a:rPr lang="en-US" dirty="0" err="1" smtClean="0"/>
              <a:t>diểm</a:t>
            </a:r>
            <a:r>
              <a:rPr lang="en-US" dirty="0" smtClean="0"/>
              <a:t> TĐ,  </a:t>
            </a:r>
            <a:r>
              <a:rPr lang="en-US" dirty="0" err="1" smtClean="0"/>
              <a:t>sai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                            ,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thay</a:t>
            </a:r>
            <a:r>
              <a:rPr lang="en-US" dirty="0" smtClean="0"/>
              <a:t> V=C, </a:t>
            </a:r>
            <a:r>
              <a:rPr lang="en-US" dirty="0" err="1" smtClean="0"/>
              <a:t>nên</a:t>
            </a:r>
            <a:r>
              <a:rPr lang="en-US" dirty="0" smtClean="0"/>
              <a:t> S=-10</a:t>
            </a:r>
            <a:r>
              <a:rPr lang="en-US" baseline="30000" dirty="0" smtClean="0"/>
              <a:t>-5</a:t>
            </a:r>
            <a:r>
              <a:rPr lang="en-US" dirty="0" smtClean="0"/>
              <a:t>* (0,2/0,01)</a:t>
            </a:r>
          </a:p>
          <a:p>
            <a:endParaRPr lang="en-US" dirty="0"/>
          </a:p>
          <a:p>
            <a:r>
              <a:rPr lang="en-US" dirty="0" err="1" smtClean="0"/>
              <a:t>Câu</a:t>
            </a:r>
            <a:r>
              <a:rPr lang="en-US" dirty="0" smtClean="0"/>
              <a:t> 15: 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F=1/5&lt; 1, </a:t>
            </a:r>
            <a:r>
              <a:rPr lang="en-US" dirty="0" err="1" smtClean="0"/>
              <a:t>nên</a:t>
            </a:r>
            <a:r>
              <a:rPr lang="en-US" dirty="0" smtClean="0"/>
              <a:t> </a:t>
            </a:r>
            <a:r>
              <a:rPr lang="en-US" dirty="0" err="1" smtClean="0"/>
              <a:t>áp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công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:                                           , pH =5,5 –</a:t>
            </a:r>
            <a:r>
              <a:rPr lang="en-US" dirty="0" err="1" smtClean="0"/>
              <a:t>lg</a:t>
            </a:r>
            <a:r>
              <a:rPr lang="en-US" dirty="0" smtClean="0"/>
              <a:t>(50*0,1-10*0,1/(10*0,1))=4,898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dirty="0" err="1" smtClean="0"/>
              <a:t>Câu</a:t>
            </a:r>
            <a:r>
              <a:rPr lang="en-US" dirty="0" smtClean="0"/>
              <a:t> 16: </a:t>
            </a:r>
            <a:r>
              <a:rPr lang="en-US" dirty="0" err="1" smtClean="0"/>
              <a:t>Như</a:t>
            </a:r>
            <a:r>
              <a:rPr lang="en-US" dirty="0" smtClean="0"/>
              <a:t> </a:t>
            </a:r>
            <a:r>
              <a:rPr lang="en-US" dirty="0" err="1" smtClean="0"/>
              <a:t>câu</a:t>
            </a:r>
            <a:r>
              <a:rPr lang="en-US" dirty="0" smtClean="0"/>
              <a:t> 14</a:t>
            </a:r>
          </a:p>
          <a:p>
            <a:endParaRPr lang="en-US" dirty="0"/>
          </a:p>
          <a:p>
            <a:r>
              <a:rPr lang="en-US" dirty="0" err="1" smtClean="0"/>
              <a:t>Câu</a:t>
            </a:r>
            <a:r>
              <a:rPr lang="en-US" dirty="0" smtClean="0"/>
              <a:t> 18: </a:t>
            </a:r>
            <a:r>
              <a:rPr lang="en-US" dirty="0" err="1" smtClean="0"/>
              <a:t>Áp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công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:                                                                ,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/>
              <a:t>, </a:t>
            </a:r>
            <a:r>
              <a:rPr lang="en-US" dirty="0" smtClean="0"/>
              <a:t>Ox1/Kh1=Fe3</a:t>
            </a:r>
            <a:r>
              <a:rPr lang="en-US" dirty="0"/>
              <a:t>+/Fe2+=0,77b=1</a:t>
            </a:r>
            <a:r>
              <a:rPr lang="en-US" dirty="0" smtClean="0"/>
              <a:t>, F=12/25, , </a:t>
            </a:r>
            <a:r>
              <a:rPr lang="en-US" b="1" dirty="0" smtClean="0"/>
              <a:t>E=0,772</a:t>
            </a:r>
          </a:p>
          <a:p>
            <a:r>
              <a:rPr lang="en-US" dirty="0" smtClean="0"/>
              <a:t>                                                                                                              </a:t>
            </a:r>
          </a:p>
          <a:p>
            <a:r>
              <a:rPr lang="en-US" dirty="0" err="1" smtClean="0"/>
              <a:t>Câu</a:t>
            </a:r>
            <a:r>
              <a:rPr lang="en-US" dirty="0" smtClean="0"/>
              <a:t> 19: 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F=1, </a:t>
            </a:r>
            <a:r>
              <a:rPr lang="en-US" dirty="0" err="1" smtClean="0"/>
              <a:t>nên</a:t>
            </a:r>
            <a:r>
              <a:rPr lang="en-US" dirty="0" smtClean="0"/>
              <a:t>                                                                = </a:t>
            </a:r>
            <a:r>
              <a:rPr lang="en-US" b="1" dirty="0" smtClean="0"/>
              <a:t>1,387</a:t>
            </a:r>
            <a:r>
              <a:rPr lang="en-US" dirty="0" smtClean="0"/>
              <a:t>  </a:t>
            </a:r>
            <a:r>
              <a:rPr lang="en-US" dirty="0"/>
              <a:t>Ox1/kh1= </a:t>
            </a:r>
            <a:r>
              <a:rPr lang="en-US" dirty="0" smtClean="0"/>
              <a:t>MnO4/Mn+2=1,51, b=5. Ox2/Kh2=Fe3+/Fe2+=0,77, a=1</a:t>
            </a:r>
          </a:p>
          <a:p>
            <a:endParaRPr lang="en-US" dirty="0" smtClean="0"/>
          </a:p>
          <a:p>
            <a:r>
              <a:rPr lang="en-US" dirty="0" err="1" smtClean="0"/>
              <a:t>Câu</a:t>
            </a:r>
            <a:r>
              <a:rPr lang="en-US" dirty="0" smtClean="0"/>
              <a:t> 20: E=1,2&gt; </a:t>
            </a:r>
            <a:r>
              <a:rPr lang="en-US" dirty="0" err="1" smtClean="0"/>
              <a:t>Etđ</a:t>
            </a:r>
            <a:r>
              <a:rPr lang="en-US" dirty="0" smtClean="0"/>
              <a:t>=(1,44+0,68)/2, </a:t>
            </a:r>
            <a:r>
              <a:rPr lang="en-US" dirty="0" err="1" smtClean="0"/>
              <a:t>áp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công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                                                               , </a:t>
            </a:r>
            <a:r>
              <a:rPr lang="en-US" dirty="0" err="1" smtClean="0"/>
              <a:t>với</a:t>
            </a:r>
            <a:r>
              <a:rPr lang="en-US" dirty="0"/>
              <a:t> Ce4+/Ce3+=</a:t>
            </a:r>
            <a:r>
              <a:rPr lang="en-US" dirty="0" smtClean="0"/>
              <a:t>1,44, </a:t>
            </a:r>
            <a:r>
              <a:rPr lang="en-US" dirty="0"/>
              <a:t>a=1</a:t>
            </a:r>
          </a:p>
          <a:p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812768"/>
              </p:ext>
            </p:extLst>
          </p:nvPr>
        </p:nvGraphicFramePr>
        <p:xfrm>
          <a:off x="4781005" y="2535880"/>
          <a:ext cx="1495729" cy="553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91" name="Equation" r:id="rId3" imgW="1205977" imgH="444307" progId="Equation.3">
                  <p:embed/>
                </p:oleObj>
              </mc:Choice>
              <mc:Fallback>
                <p:oleObj name="Equation" r:id="rId3" imgW="1205977" imgH="444307" progId="Equation.3">
                  <p:embed/>
                  <p:pic>
                    <p:nvPicPr>
                      <p:cNvPr id="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1005" y="2535880"/>
                        <a:ext cx="1495729" cy="5535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5059482"/>
              </p:ext>
            </p:extLst>
          </p:nvPr>
        </p:nvGraphicFramePr>
        <p:xfrm>
          <a:off x="5133702" y="3038781"/>
          <a:ext cx="1830976" cy="5507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92" name="Equation" r:id="rId5" imgW="1409400" imgH="393480" progId="Equation.3">
                  <p:embed/>
                </p:oleObj>
              </mc:Choice>
              <mc:Fallback>
                <p:oleObj name="Equation" r:id="rId5" imgW="1409400" imgH="393480" progId="Equation.3">
                  <p:embed/>
                  <p:pic>
                    <p:nvPicPr>
                      <p:cNvPr id="15872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3702" y="3038781"/>
                        <a:ext cx="1830976" cy="550768"/>
                      </a:xfrm>
                      <a:prstGeom prst="rect">
                        <a:avLst/>
                      </a:prstGeom>
                      <a:solidFill>
                        <a:srgbClr val="CC99F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5550536"/>
              </p:ext>
            </p:extLst>
          </p:nvPr>
        </p:nvGraphicFramePr>
        <p:xfrm>
          <a:off x="3367858" y="3993285"/>
          <a:ext cx="2826294" cy="6340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93" name="Equation" r:id="rId7" imgW="1752480" imgH="393480" progId="Equation.3">
                  <p:embed/>
                </p:oleObj>
              </mc:Choice>
              <mc:Fallback>
                <p:oleObj name="Equation" r:id="rId7" imgW="1752480" imgH="393480" progId="Equation.3">
                  <p:embed/>
                  <p:pic>
                    <p:nvPicPr>
                      <p:cNvPr id="5530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7858" y="3993285"/>
                        <a:ext cx="2826294" cy="634051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3204285"/>
              </p:ext>
            </p:extLst>
          </p:nvPr>
        </p:nvGraphicFramePr>
        <p:xfrm>
          <a:off x="3096834" y="4808627"/>
          <a:ext cx="2820640" cy="7319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94" name="Equation" r:id="rId9" imgW="1663560" imgH="431640" progId="Equation.3">
                  <p:embed/>
                </p:oleObj>
              </mc:Choice>
              <mc:Fallback>
                <p:oleObj name="Equation" r:id="rId9" imgW="1663560" imgH="431640" progId="Equation.3">
                  <p:embed/>
                  <p:pic>
                    <p:nvPicPr>
                      <p:cNvPr id="5529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6834" y="4808627"/>
                        <a:ext cx="2820640" cy="731964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7051163"/>
              </p:ext>
            </p:extLst>
          </p:nvPr>
        </p:nvGraphicFramePr>
        <p:xfrm>
          <a:off x="5528869" y="5716843"/>
          <a:ext cx="3198223" cy="6827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95" name="Equation" r:id="rId11" imgW="1841400" imgH="393480" progId="Equation.3">
                  <p:embed/>
                </p:oleObj>
              </mc:Choice>
              <mc:Fallback>
                <p:oleObj name="Equation" r:id="rId11" imgW="1841400" imgH="393480" progId="Equation.3">
                  <p:embed/>
                  <p:pic>
                    <p:nvPicPr>
                      <p:cNvPr id="5529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8869" y="5716843"/>
                        <a:ext cx="3198223" cy="682704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521602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45429" y="235131"/>
            <a:ext cx="23251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 smtClean="0">
                <a:solidFill>
                  <a:srgbClr val="FF0000"/>
                </a:solidFill>
              </a:rPr>
              <a:t>Đề</a:t>
            </a:r>
            <a:r>
              <a:rPr lang="en-US" sz="2000" b="1" dirty="0" smtClean="0">
                <a:solidFill>
                  <a:srgbClr val="FF0000"/>
                </a:solidFill>
              </a:rPr>
              <a:t> 1- </a:t>
            </a:r>
            <a:r>
              <a:rPr lang="en-US" sz="2000" b="1" dirty="0" err="1" smtClean="0">
                <a:solidFill>
                  <a:srgbClr val="FF0000"/>
                </a:solidFill>
              </a:rPr>
              <a:t>giữa</a:t>
            </a:r>
            <a:r>
              <a:rPr lang="en-US" sz="2000" b="1" dirty="0" smtClean="0">
                <a:solidFill>
                  <a:srgbClr val="FF0000"/>
                </a:solidFill>
              </a:rPr>
              <a:t> </a:t>
            </a:r>
            <a:r>
              <a:rPr lang="en-US" sz="2000" b="1" dirty="0" err="1" smtClean="0">
                <a:solidFill>
                  <a:srgbClr val="FF0000"/>
                </a:solidFill>
              </a:rPr>
              <a:t>kỳ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36023" y="635241"/>
            <a:ext cx="9875520" cy="57301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dirty="0" err="1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Câu</a:t>
            </a:r>
            <a:r>
              <a:rPr lang="en-US" dirty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11 : </a:t>
            </a:r>
            <a:r>
              <a:rPr lang="en-US" dirty="0" err="1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Tính</a:t>
            </a:r>
            <a:r>
              <a:rPr lang="en-US" dirty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pH </a:t>
            </a:r>
            <a:r>
              <a:rPr lang="en-US" dirty="0" err="1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dung </a:t>
            </a:r>
            <a:r>
              <a:rPr lang="en-US" dirty="0" err="1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dịch</a:t>
            </a:r>
            <a:r>
              <a:rPr lang="en-US" dirty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H</a:t>
            </a:r>
            <a:r>
              <a:rPr lang="en-US" baseline="-25000" dirty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dirty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SO</a:t>
            </a:r>
            <a:r>
              <a:rPr lang="en-US" baseline="-25000" dirty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4</a:t>
            </a:r>
            <a:r>
              <a:rPr lang="en-US" dirty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0,005M:   …………..        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dirty="0" err="1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Câu</a:t>
            </a:r>
            <a:r>
              <a:rPr lang="en-US" dirty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12:  </a:t>
            </a:r>
            <a:r>
              <a:rPr lang="en-US" dirty="0" err="1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Tính</a:t>
            </a:r>
            <a:r>
              <a:rPr lang="en-US" dirty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pH </a:t>
            </a:r>
            <a:r>
              <a:rPr lang="en-US" dirty="0" err="1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dung </a:t>
            </a:r>
            <a:r>
              <a:rPr lang="en-US" dirty="0" err="1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dịch</a:t>
            </a:r>
            <a:r>
              <a:rPr lang="en-US" dirty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CH</a:t>
            </a:r>
            <a:r>
              <a:rPr lang="en-US" baseline="-25000" dirty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en-US" dirty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COONa 0,1M </a:t>
            </a:r>
            <a:r>
              <a:rPr lang="en-US" dirty="0" err="1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en-US" dirty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CH</a:t>
            </a:r>
            <a:r>
              <a:rPr lang="en-US" baseline="-25000" dirty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en-US" dirty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COOH 0,01M (</a:t>
            </a:r>
            <a:r>
              <a:rPr lang="en-US" dirty="0" err="1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KPa</a:t>
            </a:r>
            <a:r>
              <a:rPr lang="en-US" dirty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=4,75):  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dirty="0" err="1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Câu</a:t>
            </a:r>
            <a:r>
              <a:rPr lang="en-US" dirty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13:  </a:t>
            </a:r>
            <a:r>
              <a:rPr lang="en-US" dirty="0" err="1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Tính</a:t>
            </a:r>
            <a:r>
              <a:rPr lang="en-US" dirty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hệ</a:t>
            </a:r>
            <a:r>
              <a:rPr lang="en-US" dirty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số</a:t>
            </a:r>
            <a:r>
              <a:rPr lang="en-US" dirty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hoạt</a:t>
            </a:r>
            <a:r>
              <a:rPr lang="en-US" dirty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độ</a:t>
            </a:r>
            <a:r>
              <a:rPr lang="en-US" dirty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f </a:t>
            </a:r>
            <a:r>
              <a:rPr lang="en-US" dirty="0" err="1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dung </a:t>
            </a:r>
            <a:r>
              <a:rPr lang="en-US" dirty="0" err="1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dịch</a:t>
            </a:r>
            <a:r>
              <a:rPr lang="en-US" dirty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CaCl</a:t>
            </a:r>
            <a:r>
              <a:rPr lang="en-US" baseline="-25000" dirty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dirty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0,001M: ……….. 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dirty="0" err="1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Câu</a:t>
            </a:r>
            <a:r>
              <a:rPr lang="en-US" dirty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14: 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Tính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sai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số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chuẩn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độ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dung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dịch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HCl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0,1M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bằng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dung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dịch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NaOH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0,1M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nếu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kết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thúc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chuẩn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độ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ở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pHc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= 5,0:  ………….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dirty="0" err="1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Câu</a:t>
            </a:r>
            <a:r>
              <a:rPr lang="en-US" dirty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15: 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Chuẩn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độ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50ml acid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yếu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HA 0,1M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có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Ka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= 10</a:t>
            </a:r>
            <a:r>
              <a:rPr lang="en-US" sz="2000" baseline="30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-5,5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bằng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10 mL dung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dịch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NaOH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 0,1M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thì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pH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của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dung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dịch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trong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bình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nón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là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bao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nhiêu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: ……………….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dirty="0" err="1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Câu</a:t>
            </a:r>
            <a:r>
              <a:rPr lang="en-US" dirty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16 : 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Sai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số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chỉ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thị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của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chuẩn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độ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dung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dịch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HCl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0,1M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bằng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dung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dịch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NaOH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0,1M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thì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kết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thúc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trong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khoảng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pT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=10: ………….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dirty="0" err="1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Câu</a:t>
            </a:r>
            <a:r>
              <a:rPr lang="en-US" dirty="0">
                <a:solidFill>
                  <a:srgbClr val="0D0D0D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18 :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Chuẩn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độ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25ml dung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dịch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Fe2+ 0,01M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bằng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Ce4+ 0,02M.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Khi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thêm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vào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được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12,48ml dung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dịch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Ce4+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thì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thế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của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dung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dịch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là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bao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nhiêu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? </a:t>
            </a:r>
            <a:r>
              <a:rPr lang="en-US" sz="2000" dirty="0" err="1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Biết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E</a:t>
            </a:r>
            <a:r>
              <a:rPr lang="en-US" sz="2000" baseline="-25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0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Fe3</a:t>
            </a:r>
            <a:r>
              <a:rPr lang="en-US" sz="2800" dirty="0">
                <a:solidFill>
                  <a:srgbClr val="000000"/>
                </a:solidFill>
                <a:latin typeface="Symbol" panose="05050102010706020507" pitchFamily="18" charset="2"/>
                <a:ea typeface="Times New Roman" panose="02020603050405020304" pitchFamily="18" charset="0"/>
                <a:sym typeface="Symbol" panose="05050102010706020507" pitchFamily="18" charset="2"/>
              </a:rPr>
              <a:t>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/Fe2</a:t>
            </a:r>
            <a:r>
              <a:rPr lang="en-US" sz="2800" dirty="0">
                <a:solidFill>
                  <a:srgbClr val="000000"/>
                </a:solidFill>
                <a:latin typeface="Symbol" panose="05050102010706020507" pitchFamily="18" charset="2"/>
                <a:ea typeface="Times New Roman" panose="02020603050405020304" pitchFamily="18" charset="0"/>
                <a:sym typeface="Symbol" panose="05050102010706020507" pitchFamily="18" charset="2"/>
              </a:rPr>
              <a:t></a:t>
            </a:r>
            <a:r>
              <a:rPr lang="en-US" sz="2800" dirty="0">
                <a:solidFill>
                  <a:srgbClr val="000000"/>
                </a:solidFill>
                <a:latin typeface="Symbol" panose="05050102010706020507" pitchFamily="18" charset="2"/>
                <a:ea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000000"/>
                </a:solidFill>
                <a:latin typeface="Symbol" panose="05050102010706020507" pitchFamily="18" charset="2"/>
                <a:ea typeface="Times New Roman" panose="02020603050405020304" pitchFamily="18" charset="0"/>
                <a:sym typeface="Symbol" panose="05050102010706020507" pitchFamily="18" charset="2"/>
              </a:rPr>
              <a:t></a:t>
            </a:r>
            <a:r>
              <a:rPr lang="en-US" sz="2800" dirty="0">
                <a:solidFill>
                  <a:srgbClr val="000000"/>
                </a:solidFill>
                <a:latin typeface="Symbol" panose="05050102010706020507" pitchFamily="18" charset="2"/>
                <a:ea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0,68V </a:t>
            </a:r>
            <a:r>
              <a:rPr lang="en-US" sz="2000" dirty="0" smtClean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;E</a:t>
            </a:r>
            <a:r>
              <a:rPr lang="en-US" sz="2000" baseline="-25000" dirty="0" smtClean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0</a:t>
            </a:r>
            <a:r>
              <a:rPr lang="en-US" sz="2000" dirty="0" smtClean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 </a:t>
            </a:r>
            <a:r>
              <a:rPr lang="en-US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Aptos"/>
              </a:rPr>
              <a:t>Ce4</a:t>
            </a:r>
            <a:r>
              <a:rPr lang="en-US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Aptos"/>
                <a:sym typeface="Symbol" panose="05050102010706020507" pitchFamily="18" charset="2"/>
              </a:rPr>
              <a:t></a:t>
            </a:r>
            <a:r>
              <a:rPr lang="en-US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Aptos"/>
              </a:rPr>
              <a:t>/Ce3</a:t>
            </a:r>
            <a:r>
              <a:rPr lang="en-US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Aptos"/>
                <a:sym typeface="Symbol" panose="05050102010706020507" pitchFamily="18" charset="2"/>
              </a:rPr>
              <a:t></a:t>
            </a:r>
            <a:r>
              <a:rPr lang="en-US" dirty="0">
                <a:latin typeface="Times New Roman" panose="02020603050405020304" pitchFamily="18" charset="0"/>
                <a:ea typeface="Aptos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</a:rPr>
              <a:t>  =1,44V: …………………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kern="100" dirty="0" err="1">
                <a:solidFill>
                  <a:srgbClr val="0D0D0D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Câu</a:t>
            </a:r>
            <a:r>
              <a:rPr lang="en-US" kern="100" dirty="0">
                <a:solidFill>
                  <a:srgbClr val="0D0D0D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 19: </a:t>
            </a:r>
            <a:r>
              <a:rPr lang="en-US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20ml dung </a:t>
            </a:r>
            <a:r>
              <a:rPr lang="en-US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Fe2+ 0,1N </a:t>
            </a:r>
            <a:r>
              <a:rPr lang="en-US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dung </a:t>
            </a:r>
            <a:r>
              <a:rPr lang="en-US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KMnO4 0,1N </a:t>
            </a:r>
            <a:r>
              <a:rPr lang="en-US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môi</a:t>
            </a:r>
            <a:r>
              <a:rPr 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H2SO4 </a:t>
            </a:r>
            <a:r>
              <a:rPr lang="en-US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pH = 0. </a:t>
            </a:r>
            <a:r>
              <a:rPr lang="en-US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18ml dung </a:t>
            </a:r>
            <a:r>
              <a:rPr lang="en-US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KMnO4 </a:t>
            </a:r>
            <a:r>
              <a:rPr lang="en-US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dung</a:t>
            </a:r>
            <a:r>
              <a:rPr lang="en-US" kern="100" dirty="0">
                <a:solidFill>
                  <a:srgbClr val="000000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000000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dịch</a:t>
            </a:r>
            <a:r>
              <a:rPr lang="en-US" kern="100" dirty="0">
                <a:solidFill>
                  <a:srgbClr val="000000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000000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là</a:t>
            </a:r>
            <a:r>
              <a:rPr lang="en-US" kern="100" dirty="0">
                <a:solidFill>
                  <a:srgbClr val="000000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000000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bao</a:t>
            </a:r>
            <a:r>
              <a:rPr lang="en-US" kern="100" dirty="0">
                <a:solidFill>
                  <a:srgbClr val="000000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000000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nhiêu</a:t>
            </a:r>
            <a:r>
              <a:rPr lang="en-US" kern="100" dirty="0">
                <a:solidFill>
                  <a:srgbClr val="000000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, </a:t>
            </a:r>
            <a:r>
              <a:rPr lang="en-US" kern="100" dirty="0" err="1">
                <a:solidFill>
                  <a:srgbClr val="000000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biết</a:t>
            </a:r>
            <a:r>
              <a:rPr lang="en-US" kern="100" dirty="0">
                <a:solidFill>
                  <a:srgbClr val="000000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 </a:t>
            </a:r>
            <a:r>
              <a:rPr lang="en-US" sz="2000" kern="100" dirty="0">
                <a:solidFill>
                  <a:srgbClr val="000000"/>
                </a:solidFill>
                <a:latin typeface="TimesNewRomanPSMT"/>
                <a:ea typeface="Aptos"/>
                <a:cs typeface="Times New Roman" panose="02020603050405020304" pitchFamily="18" charset="0"/>
              </a:rPr>
              <a:t>E</a:t>
            </a:r>
            <a:r>
              <a:rPr lang="en-US" sz="2000" kern="100" baseline="-25000" dirty="0">
                <a:solidFill>
                  <a:srgbClr val="000000"/>
                </a:solidFill>
                <a:latin typeface="TimesNewRomanPSMT"/>
                <a:ea typeface="Aptos"/>
                <a:cs typeface="Times New Roman" panose="02020603050405020304" pitchFamily="18" charset="0"/>
              </a:rPr>
              <a:t>0</a:t>
            </a:r>
            <a:r>
              <a:rPr lang="en-US" sz="2000" kern="100" dirty="0">
                <a:solidFill>
                  <a:srgbClr val="000000"/>
                </a:solidFill>
                <a:latin typeface="TimesNewRomanPSMT"/>
                <a:ea typeface="Aptos"/>
                <a:cs typeface="Times New Roman" panose="02020603050405020304" pitchFamily="18" charset="0"/>
              </a:rPr>
              <a:t>Fe3</a:t>
            </a:r>
            <a:r>
              <a:rPr lang="en-US" sz="2800" kern="100" dirty="0">
                <a:solidFill>
                  <a:srgbClr val="000000"/>
                </a:solidFill>
                <a:latin typeface="Symbol" panose="05050102010706020507" pitchFamily="18" charset="2"/>
                <a:ea typeface="Aptos"/>
                <a:cs typeface="Times New Roman" panose="02020603050405020304" pitchFamily="18" charset="0"/>
                <a:sym typeface="Symbol" panose="05050102010706020507" pitchFamily="18" charset="2"/>
              </a:rPr>
              <a:t></a:t>
            </a:r>
            <a:r>
              <a:rPr lang="en-US" sz="2000" kern="100" dirty="0">
                <a:solidFill>
                  <a:srgbClr val="000000"/>
                </a:solidFill>
                <a:latin typeface="TimesNewRomanPSMT"/>
                <a:ea typeface="Aptos"/>
                <a:cs typeface="Times New Roman" panose="02020603050405020304" pitchFamily="18" charset="0"/>
              </a:rPr>
              <a:t>/Fe2</a:t>
            </a:r>
            <a:r>
              <a:rPr lang="en-US" sz="2800" kern="100" dirty="0">
                <a:solidFill>
                  <a:srgbClr val="000000"/>
                </a:solidFill>
                <a:latin typeface="Symbol" panose="05050102010706020507" pitchFamily="18" charset="2"/>
                <a:ea typeface="Aptos"/>
                <a:cs typeface="Times New Roman" panose="02020603050405020304" pitchFamily="18" charset="0"/>
                <a:sym typeface="Symbol" panose="05050102010706020507" pitchFamily="18" charset="2"/>
              </a:rPr>
              <a:t></a:t>
            </a:r>
            <a:r>
              <a:rPr lang="en-US" sz="2000" kern="100" dirty="0">
                <a:solidFill>
                  <a:srgbClr val="000000"/>
                </a:solidFill>
                <a:latin typeface="TimesNewRomanPSMT"/>
                <a:ea typeface="Aptos"/>
                <a:cs typeface="Times New Roman" panose="02020603050405020304" pitchFamily="18" charset="0"/>
              </a:rPr>
              <a:t>0,68V ; E</a:t>
            </a:r>
            <a:r>
              <a:rPr lang="en-US" sz="2000" kern="100" baseline="-25000" dirty="0">
                <a:solidFill>
                  <a:srgbClr val="000000"/>
                </a:solidFill>
                <a:latin typeface="TimesNewRomanPSMT"/>
                <a:ea typeface="Aptos"/>
                <a:cs typeface="Times New Roman" panose="02020603050405020304" pitchFamily="18" charset="0"/>
              </a:rPr>
              <a:t>0</a:t>
            </a:r>
            <a:r>
              <a:rPr lang="en-US" sz="2000" kern="100" dirty="0">
                <a:solidFill>
                  <a:srgbClr val="000000"/>
                </a:solidFill>
                <a:latin typeface="TimesNewRomanPSMT"/>
                <a:ea typeface="Aptos"/>
                <a:cs typeface="Times New Roman" panose="02020603050405020304" pitchFamily="18" charset="0"/>
              </a:rPr>
              <a:t>MnO-4/</a:t>
            </a:r>
            <a:r>
              <a:rPr lang="en-US" sz="2000" kern="100" dirty="0" err="1">
                <a:solidFill>
                  <a:srgbClr val="000000"/>
                </a:solidFill>
                <a:latin typeface="TimesNewRomanPSMT"/>
                <a:ea typeface="Aptos"/>
                <a:cs typeface="Times New Roman" panose="02020603050405020304" pitchFamily="18" charset="0"/>
              </a:rPr>
              <a:t>Mn</a:t>
            </a:r>
            <a:r>
              <a:rPr lang="en-US" sz="2000" kern="100" dirty="0">
                <a:solidFill>
                  <a:srgbClr val="000000"/>
                </a:solidFill>
                <a:latin typeface="TimesNewRomanPSMT"/>
                <a:ea typeface="Aptos"/>
                <a:cs typeface="Times New Roman" panose="02020603050405020304" pitchFamily="18" charset="0"/>
              </a:rPr>
              <a:t> 2</a:t>
            </a:r>
            <a:r>
              <a:rPr lang="en-US" sz="2800" kern="100" dirty="0">
                <a:solidFill>
                  <a:srgbClr val="000000"/>
                </a:solidFill>
                <a:latin typeface="Symbol" panose="05050102010706020507" pitchFamily="18" charset="2"/>
                <a:ea typeface="Aptos"/>
                <a:cs typeface="Times New Roman" panose="02020603050405020304" pitchFamily="18" charset="0"/>
                <a:sym typeface="Symbol" panose="05050102010706020507" pitchFamily="18" charset="2"/>
              </a:rPr>
              <a:t></a:t>
            </a:r>
            <a:r>
              <a:rPr lang="en-US" sz="2000" kern="100" dirty="0">
                <a:solidFill>
                  <a:srgbClr val="000000"/>
                </a:solidFill>
                <a:latin typeface="TimesNewRomanPSMT"/>
                <a:ea typeface="Aptos"/>
                <a:cs typeface="Times New Roman" panose="02020603050405020304" pitchFamily="18" charset="0"/>
              </a:rPr>
              <a:t>1,51V:………….</a:t>
            </a:r>
            <a:endParaRPr lang="en-US" kern="100" dirty="0">
              <a:latin typeface="Times New Roman" panose="02020603050405020304" pitchFamily="18" charset="0"/>
              <a:ea typeface="Aptos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kern="100" dirty="0" err="1">
                <a:solidFill>
                  <a:srgbClr val="0D0D0D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Câu</a:t>
            </a:r>
            <a:r>
              <a:rPr lang="en-US" kern="100" dirty="0">
                <a:solidFill>
                  <a:srgbClr val="0D0D0D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 20: </a:t>
            </a:r>
            <a:r>
              <a:rPr lang="en-US" kern="100" dirty="0" err="1">
                <a:solidFill>
                  <a:srgbClr val="0D0D0D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Tính</a:t>
            </a:r>
            <a:r>
              <a:rPr lang="en-US" kern="100" dirty="0">
                <a:solidFill>
                  <a:srgbClr val="0D0D0D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0D0D0D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sai</a:t>
            </a:r>
            <a:r>
              <a:rPr lang="en-US" kern="100" dirty="0">
                <a:solidFill>
                  <a:srgbClr val="0D0D0D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0D0D0D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số</a:t>
            </a:r>
            <a:r>
              <a:rPr lang="en-US" kern="100" dirty="0">
                <a:solidFill>
                  <a:srgbClr val="0D0D0D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0D0D0D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chuẩn</a:t>
            </a:r>
            <a:r>
              <a:rPr lang="en-US" kern="100" dirty="0">
                <a:solidFill>
                  <a:srgbClr val="0D0D0D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0D0D0D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độ</a:t>
            </a:r>
            <a:r>
              <a:rPr lang="en-US" kern="100" dirty="0">
                <a:solidFill>
                  <a:srgbClr val="0D0D0D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0D0D0D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khi</a:t>
            </a:r>
            <a:r>
              <a:rPr lang="en-US" kern="100" dirty="0">
                <a:solidFill>
                  <a:srgbClr val="0D0D0D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0D0D0D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chuẩn</a:t>
            </a:r>
            <a:r>
              <a:rPr lang="en-US" kern="100" dirty="0">
                <a:solidFill>
                  <a:srgbClr val="0D0D0D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0D0D0D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độ</a:t>
            </a:r>
            <a:r>
              <a:rPr lang="en-US" kern="100" dirty="0">
                <a:solidFill>
                  <a:srgbClr val="0D0D0D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 dung </a:t>
            </a:r>
            <a:r>
              <a:rPr lang="en-US" kern="100" dirty="0" err="1">
                <a:solidFill>
                  <a:srgbClr val="0D0D0D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dịch</a:t>
            </a:r>
            <a:r>
              <a:rPr lang="en-US" kern="100" dirty="0">
                <a:solidFill>
                  <a:srgbClr val="0D0D0D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 Fe2+ 0,1M </a:t>
            </a:r>
            <a:r>
              <a:rPr lang="en-US" kern="100" dirty="0" err="1">
                <a:solidFill>
                  <a:srgbClr val="0D0D0D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bằng</a:t>
            </a:r>
            <a:r>
              <a:rPr lang="en-US" kern="100" dirty="0">
                <a:solidFill>
                  <a:srgbClr val="0D0D0D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 dung </a:t>
            </a:r>
            <a:r>
              <a:rPr lang="en-US" kern="100" dirty="0" err="1">
                <a:solidFill>
                  <a:srgbClr val="0D0D0D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dịch</a:t>
            </a:r>
            <a:r>
              <a:rPr lang="en-US" kern="100" dirty="0">
                <a:solidFill>
                  <a:srgbClr val="0D0D0D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 Ce4+ </a:t>
            </a:r>
            <a:r>
              <a:rPr lang="en-US" kern="100" dirty="0" err="1">
                <a:solidFill>
                  <a:srgbClr val="0D0D0D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cùng</a:t>
            </a:r>
            <a:r>
              <a:rPr lang="en-US" kern="100" dirty="0">
                <a:solidFill>
                  <a:srgbClr val="0D0D0D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0D0D0D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nồng</a:t>
            </a:r>
            <a:r>
              <a:rPr lang="en-US" kern="100" dirty="0">
                <a:solidFill>
                  <a:srgbClr val="0D0D0D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0D0D0D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độ</a:t>
            </a:r>
            <a:r>
              <a:rPr lang="en-US" kern="100" dirty="0">
                <a:solidFill>
                  <a:srgbClr val="0D0D0D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0D0D0D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kết</a:t>
            </a:r>
            <a:r>
              <a:rPr lang="en-US" kern="100" dirty="0">
                <a:solidFill>
                  <a:srgbClr val="0D0D0D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0D0D0D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thúc</a:t>
            </a:r>
            <a:r>
              <a:rPr lang="en-US" kern="100" dirty="0">
                <a:solidFill>
                  <a:srgbClr val="0D0D0D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 ở </a:t>
            </a:r>
            <a:r>
              <a:rPr lang="en-US" kern="100" dirty="0" err="1">
                <a:solidFill>
                  <a:srgbClr val="0D0D0D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thế</a:t>
            </a:r>
            <a:r>
              <a:rPr lang="en-US" kern="100" dirty="0">
                <a:solidFill>
                  <a:srgbClr val="0D0D0D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 1,257 V , </a:t>
            </a:r>
            <a:r>
              <a:rPr lang="en-US" sz="2000" kern="1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000" kern="100" baseline="-25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000" kern="1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  <a:cs typeface="Times New Roman" panose="02020603050405020304" pitchFamily="18" charset="0"/>
              </a:rPr>
              <a:t>Fe3</a:t>
            </a:r>
            <a:r>
              <a:rPr lang="en-US" sz="2800" kern="100" dirty="0">
                <a:solidFill>
                  <a:srgbClr val="000000"/>
                </a:solidFill>
                <a:latin typeface="Symbol" panose="05050102010706020507" pitchFamily="18" charset="2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</a:t>
            </a:r>
            <a:r>
              <a:rPr lang="en-US" sz="2000" kern="1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  <a:cs typeface="Times New Roman" panose="02020603050405020304" pitchFamily="18" charset="0"/>
              </a:rPr>
              <a:t>/Fe2</a:t>
            </a:r>
            <a:r>
              <a:rPr lang="en-US" sz="2800" kern="100" dirty="0">
                <a:solidFill>
                  <a:srgbClr val="000000"/>
                </a:solidFill>
                <a:latin typeface="Symbol" panose="05050102010706020507" pitchFamily="18" charset="2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</a:t>
            </a:r>
            <a:r>
              <a:rPr lang="en-US" sz="2800" kern="100" dirty="0">
                <a:solidFill>
                  <a:srgbClr val="000000"/>
                </a:solidFill>
                <a:latin typeface="Symbol" panose="05050102010706020507" pitchFamily="18" charset="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kern="100" dirty="0">
                <a:solidFill>
                  <a:srgbClr val="000000"/>
                </a:solidFill>
                <a:latin typeface="Symbol" panose="05050102010706020507" pitchFamily="18" charset="2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</a:t>
            </a:r>
            <a:r>
              <a:rPr lang="en-US" sz="2800" kern="100" dirty="0">
                <a:solidFill>
                  <a:srgbClr val="000000"/>
                </a:solidFill>
                <a:latin typeface="Symbol" panose="05050102010706020507" pitchFamily="18" charset="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  <a:cs typeface="Times New Roman" panose="02020603050405020304" pitchFamily="18" charset="0"/>
              </a:rPr>
              <a:t>0,68V ;E</a:t>
            </a:r>
            <a:r>
              <a:rPr lang="en-US" sz="2000" kern="100" baseline="-250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000" kern="1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kern="1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Ce4</a:t>
            </a:r>
            <a:r>
              <a:rPr lang="en-US" kern="1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  <a:sym typeface="Symbol" panose="05050102010706020507" pitchFamily="18" charset="2"/>
              </a:rPr>
              <a:t></a:t>
            </a:r>
            <a:r>
              <a:rPr lang="en-US" kern="1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/Ce3</a:t>
            </a:r>
            <a:r>
              <a:rPr lang="en-US" kern="1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  <a:sym typeface="Symbol" panose="05050102010706020507" pitchFamily="18" charset="2"/>
              </a:rPr>
              <a:t></a:t>
            </a:r>
            <a:r>
              <a:rPr lang="en-US" kern="100" dirty="0"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 </a:t>
            </a:r>
            <a:r>
              <a:rPr lang="en-US" sz="2000" kern="100" dirty="0">
                <a:solidFill>
                  <a:srgbClr val="000000"/>
                </a:solidFill>
                <a:latin typeface="TimesNewRomanPSMT"/>
                <a:ea typeface="Times New Roman" panose="02020603050405020304" pitchFamily="18" charset="0"/>
                <a:cs typeface="Times New Roman" panose="02020603050405020304" pitchFamily="18" charset="0"/>
              </a:rPr>
              <a:t>  =1,44V</a:t>
            </a:r>
            <a:r>
              <a:rPr lang="en-US" kern="100" dirty="0">
                <a:solidFill>
                  <a:srgbClr val="0D0D0D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  ………………..</a:t>
            </a:r>
            <a:endParaRPr lang="en-US" kern="100" dirty="0">
              <a:latin typeface="Times New Roman" panose="02020603050405020304" pitchFamily="18" charset="0"/>
              <a:ea typeface="Aptos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50153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898572" y="143692"/>
            <a:ext cx="37229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 smtClean="0">
                <a:solidFill>
                  <a:srgbClr val="FF0000"/>
                </a:solidFill>
              </a:rPr>
              <a:t>Hướng</a:t>
            </a:r>
            <a:r>
              <a:rPr lang="en-US" sz="2400" b="1" dirty="0" smtClean="0">
                <a:solidFill>
                  <a:srgbClr val="FF0000"/>
                </a:solidFill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</a:rPr>
              <a:t>dẫn</a:t>
            </a:r>
            <a:r>
              <a:rPr lang="en-US" sz="2400" b="1" dirty="0" smtClean="0">
                <a:solidFill>
                  <a:srgbClr val="FF0000"/>
                </a:solidFill>
              </a:rPr>
              <a:t> – </a:t>
            </a:r>
            <a:r>
              <a:rPr lang="en-US" sz="2400" b="1" dirty="0" err="1" smtClean="0">
                <a:solidFill>
                  <a:srgbClr val="FF0000"/>
                </a:solidFill>
              </a:rPr>
              <a:t>đề</a:t>
            </a:r>
            <a:r>
              <a:rPr lang="en-US" sz="2400" b="1" dirty="0" smtClean="0">
                <a:solidFill>
                  <a:srgbClr val="FF0000"/>
                </a:solidFill>
              </a:rPr>
              <a:t> 1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13508" y="953589"/>
            <a:ext cx="1120793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Câu</a:t>
            </a:r>
            <a:r>
              <a:rPr lang="en-US" dirty="0" smtClean="0"/>
              <a:t> 11: </a:t>
            </a:r>
            <a:r>
              <a:rPr lang="en-US" dirty="0" err="1" smtClean="0"/>
              <a:t>Áp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công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 : pH =-</a:t>
            </a:r>
            <a:r>
              <a:rPr lang="en-US" dirty="0" err="1" smtClean="0"/>
              <a:t>lg</a:t>
            </a:r>
            <a:r>
              <a:rPr lang="en-US" dirty="0" smtClean="0"/>
              <a:t>[H+]=-</a:t>
            </a:r>
            <a:r>
              <a:rPr lang="en-US" dirty="0" err="1" smtClean="0"/>
              <a:t>lg</a:t>
            </a:r>
            <a:r>
              <a:rPr lang="en-US" dirty="0" smtClean="0"/>
              <a:t>[ 0,01]=</a:t>
            </a:r>
            <a:r>
              <a:rPr lang="en-US" b="1" dirty="0" smtClean="0"/>
              <a:t>2</a:t>
            </a:r>
          </a:p>
          <a:p>
            <a:endParaRPr lang="en-US" dirty="0"/>
          </a:p>
          <a:p>
            <a:r>
              <a:rPr lang="en-US" dirty="0" err="1" smtClean="0"/>
              <a:t>Câu</a:t>
            </a:r>
            <a:r>
              <a:rPr lang="en-US" dirty="0" smtClean="0"/>
              <a:t> 12: </a:t>
            </a:r>
            <a:r>
              <a:rPr lang="en-US" dirty="0" err="1" smtClean="0"/>
              <a:t>Áp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công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: pH = </a:t>
            </a:r>
            <a:r>
              <a:rPr lang="en-US" dirty="0" err="1" smtClean="0"/>
              <a:t>pKa</a:t>
            </a:r>
            <a:r>
              <a:rPr lang="en-US" dirty="0" smtClean="0"/>
              <a:t> + </a:t>
            </a:r>
            <a:r>
              <a:rPr lang="en-US" dirty="0" err="1" smtClean="0"/>
              <a:t>lg</a:t>
            </a:r>
            <a:r>
              <a:rPr lang="en-US" dirty="0" smtClean="0"/>
              <a:t> (</a:t>
            </a:r>
            <a:r>
              <a:rPr lang="en-US" dirty="0" err="1" smtClean="0"/>
              <a:t>Cmuoi</a:t>
            </a:r>
            <a:r>
              <a:rPr lang="en-US" dirty="0" smtClean="0"/>
              <a:t>/</a:t>
            </a:r>
            <a:r>
              <a:rPr lang="en-US" dirty="0" err="1" smtClean="0"/>
              <a:t>Cacid</a:t>
            </a:r>
            <a:r>
              <a:rPr lang="en-US" dirty="0" smtClean="0"/>
              <a:t>)=4,75 + lg10=5,75</a:t>
            </a:r>
          </a:p>
          <a:p>
            <a:endParaRPr lang="en-US" dirty="0"/>
          </a:p>
          <a:p>
            <a:r>
              <a:rPr lang="en-US" dirty="0" err="1" smtClean="0"/>
              <a:t>Câu</a:t>
            </a:r>
            <a:r>
              <a:rPr lang="en-US" dirty="0" smtClean="0"/>
              <a:t> 13:  </a:t>
            </a:r>
            <a:r>
              <a:rPr lang="en-US" dirty="0" err="1" smtClean="0"/>
              <a:t>Áp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công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 : µ=1/2 </a:t>
            </a:r>
            <a:r>
              <a:rPr lang="en-US" smtClean="0"/>
              <a:t>(</a:t>
            </a:r>
            <a:r>
              <a:rPr lang="en-US" smtClean="0"/>
              <a:t>Z</a:t>
            </a:r>
            <a:r>
              <a:rPr lang="en-US" baseline="30000" smtClean="0"/>
              <a:t>2</a:t>
            </a:r>
            <a:r>
              <a:rPr lang="en-US" smtClean="0"/>
              <a:t>*C+..), </a:t>
            </a:r>
            <a:r>
              <a:rPr lang="en-US" dirty="0" err="1" smtClean="0"/>
              <a:t>sau</a:t>
            </a:r>
            <a:r>
              <a:rPr lang="en-US" dirty="0" smtClean="0"/>
              <a:t> </a:t>
            </a:r>
            <a:r>
              <a:rPr lang="en-US" dirty="0" err="1" smtClean="0"/>
              <a:t>đó</a:t>
            </a:r>
            <a:r>
              <a:rPr lang="en-US" dirty="0" smtClean="0"/>
              <a:t> f=1/2(2</a:t>
            </a:r>
            <a:r>
              <a:rPr lang="en-US" baseline="30000" dirty="0" smtClean="0"/>
              <a:t>2</a:t>
            </a:r>
            <a:r>
              <a:rPr lang="en-US" dirty="0" smtClean="0"/>
              <a:t>*0,001+1</a:t>
            </a:r>
            <a:r>
              <a:rPr lang="en-US" baseline="30000" dirty="0" smtClean="0"/>
              <a:t>2</a:t>
            </a:r>
            <a:r>
              <a:rPr lang="en-US" dirty="0" smtClean="0"/>
              <a:t>*0,002)=</a:t>
            </a:r>
            <a:r>
              <a:rPr lang="en-US" b="1" dirty="0" smtClean="0"/>
              <a:t>0,003</a:t>
            </a:r>
          </a:p>
          <a:p>
            <a:endParaRPr lang="en-US" dirty="0"/>
          </a:p>
          <a:p>
            <a:r>
              <a:rPr lang="en-US" dirty="0" err="1" smtClean="0"/>
              <a:t>Câu</a:t>
            </a:r>
            <a:r>
              <a:rPr lang="en-US" dirty="0" smtClean="0"/>
              <a:t> 14: ở pH =5 &lt; pH=7, </a:t>
            </a:r>
            <a:r>
              <a:rPr lang="en-US" dirty="0" err="1" smtClean="0"/>
              <a:t>trước</a:t>
            </a:r>
            <a:r>
              <a:rPr lang="en-US" dirty="0" smtClean="0"/>
              <a:t> </a:t>
            </a:r>
            <a:r>
              <a:rPr lang="en-US" dirty="0" err="1" smtClean="0"/>
              <a:t>diểm</a:t>
            </a:r>
            <a:r>
              <a:rPr lang="en-US" dirty="0" smtClean="0"/>
              <a:t> TĐ,  </a:t>
            </a:r>
            <a:r>
              <a:rPr lang="en-US" dirty="0" err="1" smtClean="0"/>
              <a:t>sai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                            ,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thay</a:t>
            </a:r>
            <a:r>
              <a:rPr lang="en-US" dirty="0" smtClean="0"/>
              <a:t> V=C, </a:t>
            </a:r>
            <a:r>
              <a:rPr lang="en-US" dirty="0" err="1" smtClean="0"/>
              <a:t>nên</a:t>
            </a:r>
            <a:r>
              <a:rPr lang="en-US" dirty="0" smtClean="0"/>
              <a:t> S=-10</a:t>
            </a:r>
            <a:r>
              <a:rPr lang="en-US" baseline="30000" dirty="0" smtClean="0"/>
              <a:t>-5</a:t>
            </a:r>
            <a:r>
              <a:rPr lang="en-US" dirty="0" smtClean="0"/>
              <a:t>* (0,2/0,01)*100=-</a:t>
            </a:r>
            <a:r>
              <a:rPr lang="en-US" b="1" dirty="0" smtClean="0"/>
              <a:t>0,02%</a:t>
            </a:r>
          </a:p>
          <a:p>
            <a:endParaRPr lang="en-US" dirty="0"/>
          </a:p>
          <a:p>
            <a:r>
              <a:rPr lang="en-US" dirty="0" err="1" smtClean="0"/>
              <a:t>Câu</a:t>
            </a:r>
            <a:r>
              <a:rPr lang="en-US" dirty="0" smtClean="0"/>
              <a:t> 15: 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F=1/5&lt; 1, </a:t>
            </a:r>
            <a:r>
              <a:rPr lang="en-US" dirty="0" err="1" smtClean="0"/>
              <a:t>nên</a:t>
            </a:r>
            <a:r>
              <a:rPr lang="en-US" dirty="0" smtClean="0"/>
              <a:t> </a:t>
            </a:r>
            <a:r>
              <a:rPr lang="en-US" dirty="0" err="1" smtClean="0"/>
              <a:t>áp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công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:                                           , pH =5,5 –</a:t>
            </a:r>
            <a:r>
              <a:rPr lang="en-US" dirty="0" err="1" smtClean="0"/>
              <a:t>lg</a:t>
            </a:r>
            <a:r>
              <a:rPr lang="en-US" dirty="0" smtClean="0"/>
              <a:t>(50*0,1-10*0,1/(10*0,1))=</a:t>
            </a:r>
            <a:r>
              <a:rPr lang="en-US" b="1" dirty="0" smtClean="0"/>
              <a:t>4,898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dirty="0" err="1" smtClean="0"/>
              <a:t>Câu</a:t>
            </a:r>
            <a:r>
              <a:rPr lang="en-US" dirty="0" smtClean="0"/>
              <a:t> 16: pH=10&gt; 7, </a:t>
            </a:r>
            <a:r>
              <a:rPr lang="en-US" dirty="0" err="1" smtClean="0"/>
              <a:t>sau</a:t>
            </a:r>
            <a:r>
              <a:rPr lang="en-US" dirty="0" smtClean="0"/>
              <a:t> TĐ, </a:t>
            </a:r>
            <a:r>
              <a:rPr lang="en-US" dirty="0" err="1" smtClean="0"/>
              <a:t>áp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CT:                                      ,  S= 10</a:t>
            </a:r>
            <a:r>
              <a:rPr lang="en-US" baseline="30000" dirty="0" smtClean="0"/>
              <a:t>-4</a:t>
            </a:r>
            <a:r>
              <a:rPr lang="en-US" dirty="0" smtClean="0"/>
              <a:t>* (0,2/0,01)*100=</a:t>
            </a:r>
            <a:r>
              <a:rPr lang="en-US" b="1" dirty="0" smtClean="0"/>
              <a:t>0,2%</a:t>
            </a:r>
          </a:p>
          <a:p>
            <a:endParaRPr lang="en-US" dirty="0" smtClean="0"/>
          </a:p>
          <a:p>
            <a:r>
              <a:rPr lang="en-US" dirty="0" err="1" smtClean="0"/>
              <a:t>âu</a:t>
            </a:r>
            <a:r>
              <a:rPr lang="en-US" dirty="0" smtClean="0"/>
              <a:t> 18: </a:t>
            </a:r>
            <a:r>
              <a:rPr lang="en-US" dirty="0" err="1" smtClean="0"/>
              <a:t>Áp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công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:                                                                ,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/>
              <a:t>, </a:t>
            </a:r>
            <a:r>
              <a:rPr lang="en-US" dirty="0" smtClean="0"/>
              <a:t>Ox1/Kh1=Fe3</a:t>
            </a:r>
            <a:r>
              <a:rPr lang="en-US" dirty="0"/>
              <a:t>+/Fe2+=</a:t>
            </a:r>
            <a:r>
              <a:rPr lang="en-US" dirty="0" smtClean="0"/>
              <a:t>0,68, b=1, F=12,48/25, , </a:t>
            </a:r>
            <a:r>
              <a:rPr lang="en-US" b="1" dirty="0" smtClean="0"/>
              <a:t>E=0,68</a:t>
            </a:r>
          </a:p>
          <a:p>
            <a:r>
              <a:rPr lang="en-US" dirty="0" smtClean="0"/>
              <a:t>                                                                                                              </a:t>
            </a:r>
          </a:p>
          <a:p>
            <a:r>
              <a:rPr lang="en-US" dirty="0" err="1" smtClean="0"/>
              <a:t>Câu</a:t>
            </a:r>
            <a:r>
              <a:rPr lang="en-US" dirty="0" smtClean="0"/>
              <a:t> 19: 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F=0,9&lt;1, </a:t>
            </a:r>
            <a:r>
              <a:rPr lang="en-US" dirty="0" err="1" smtClean="0"/>
              <a:t>nên</a:t>
            </a:r>
            <a:r>
              <a:rPr lang="en-US" dirty="0" smtClean="0"/>
              <a:t>                                                                = </a:t>
            </a:r>
            <a:r>
              <a:rPr lang="en-US" b="1" dirty="0" smtClean="0"/>
              <a:t>0,736</a:t>
            </a:r>
            <a:r>
              <a:rPr lang="en-US" dirty="0" smtClean="0"/>
              <a:t>  </a:t>
            </a:r>
            <a:r>
              <a:rPr lang="en-US" dirty="0"/>
              <a:t>Ox1/kh1= </a:t>
            </a:r>
            <a:r>
              <a:rPr lang="en-US" dirty="0" smtClean="0"/>
              <a:t>Fe3+/Fe2+=0,68, </a:t>
            </a:r>
            <a:r>
              <a:rPr lang="en-US" dirty="0"/>
              <a:t>b</a:t>
            </a:r>
            <a:r>
              <a:rPr lang="en-US" dirty="0" smtClean="0"/>
              <a:t>=1</a:t>
            </a:r>
          </a:p>
          <a:p>
            <a:endParaRPr lang="en-US" dirty="0" smtClean="0"/>
          </a:p>
          <a:p>
            <a:r>
              <a:rPr lang="en-US" dirty="0" err="1" smtClean="0"/>
              <a:t>Câu</a:t>
            </a:r>
            <a:r>
              <a:rPr lang="en-US" dirty="0" smtClean="0"/>
              <a:t> 20: E=1,257&gt; </a:t>
            </a:r>
            <a:r>
              <a:rPr lang="en-US" dirty="0" err="1" smtClean="0"/>
              <a:t>Etđ</a:t>
            </a:r>
            <a:r>
              <a:rPr lang="en-US" dirty="0" smtClean="0"/>
              <a:t>=(1,44+0,68)/2=1,06, </a:t>
            </a:r>
            <a:r>
              <a:rPr lang="en-US" dirty="0" err="1" smtClean="0"/>
              <a:t>áp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công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                                                               , </a:t>
            </a:r>
            <a:r>
              <a:rPr lang="en-US" dirty="0" err="1" smtClean="0"/>
              <a:t>với</a:t>
            </a:r>
            <a:r>
              <a:rPr lang="en-US" dirty="0"/>
              <a:t> Ce4+/Ce3+=</a:t>
            </a:r>
            <a:r>
              <a:rPr lang="en-US" dirty="0" smtClean="0"/>
              <a:t>1,44, </a:t>
            </a:r>
            <a:r>
              <a:rPr lang="en-US" dirty="0"/>
              <a:t>a=1</a:t>
            </a:r>
          </a:p>
          <a:p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/>
          </p:nvPr>
        </p:nvGraphicFramePr>
        <p:xfrm>
          <a:off x="4781005" y="2535880"/>
          <a:ext cx="1495729" cy="553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7" name="Equation" r:id="rId3" imgW="1205977" imgH="444307" progId="Equation.3">
                  <p:embed/>
                </p:oleObj>
              </mc:Choice>
              <mc:Fallback>
                <p:oleObj name="Equation" r:id="rId3" imgW="1205977" imgH="444307" progId="Equation.3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1005" y="2535880"/>
                        <a:ext cx="1495729" cy="5535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/>
          </p:nvPr>
        </p:nvGraphicFramePr>
        <p:xfrm>
          <a:off x="5133702" y="3038781"/>
          <a:ext cx="1830976" cy="5507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8" name="Equation" r:id="rId5" imgW="1409400" imgH="393480" progId="Equation.3">
                  <p:embed/>
                </p:oleObj>
              </mc:Choice>
              <mc:Fallback>
                <p:oleObj name="Equation" r:id="rId5" imgW="1409400" imgH="393480" progId="Equation.3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3702" y="3038781"/>
                        <a:ext cx="1830976" cy="550768"/>
                      </a:xfrm>
                      <a:prstGeom prst="rect">
                        <a:avLst/>
                      </a:prstGeom>
                      <a:solidFill>
                        <a:srgbClr val="CC99F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0681543"/>
              </p:ext>
            </p:extLst>
          </p:nvPr>
        </p:nvGraphicFramePr>
        <p:xfrm>
          <a:off x="3370216" y="4253347"/>
          <a:ext cx="2678973" cy="6010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9" name="Equation" r:id="rId7" imgW="1752480" imgH="393480" progId="Equation.3">
                  <p:embed/>
                </p:oleObj>
              </mc:Choice>
              <mc:Fallback>
                <p:oleObj name="Equation" r:id="rId7" imgW="1752480" imgH="393480" progId="Equation.3">
                  <p:embed/>
                  <p:pic>
                    <p:nvPicPr>
                      <p:cNvPr id="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0216" y="4253347"/>
                        <a:ext cx="2678973" cy="601001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5336820"/>
              </p:ext>
            </p:extLst>
          </p:nvPr>
        </p:nvGraphicFramePr>
        <p:xfrm>
          <a:off x="6472677" y="5614888"/>
          <a:ext cx="2685490" cy="5732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0" name="Equation" r:id="rId9" imgW="1841400" imgH="393480" progId="Equation.3">
                  <p:embed/>
                </p:oleObj>
              </mc:Choice>
              <mc:Fallback>
                <p:oleObj name="Equation" r:id="rId9" imgW="1841400" imgH="393480" progId="Equation.3">
                  <p:embed/>
                  <p:pic>
                    <p:nvPicPr>
                      <p:cNvPr id="9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2677" y="5614888"/>
                        <a:ext cx="2685490" cy="573254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277396"/>
              </p:ext>
            </p:extLst>
          </p:nvPr>
        </p:nvGraphicFramePr>
        <p:xfrm>
          <a:off x="4156163" y="3621225"/>
          <a:ext cx="1761311" cy="6613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1" name="Equation" r:id="rId11" imgW="1155600" imgH="431640" progId="Equation.3">
                  <p:embed/>
                </p:oleObj>
              </mc:Choice>
              <mc:Fallback>
                <p:oleObj name="Equation" r:id="rId11" imgW="1155600" imgH="431640" progId="Equation.3">
                  <p:embed/>
                  <p:pic>
                    <p:nvPicPr>
                      <p:cNvPr id="13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6163" y="3621225"/>
                        <a:ext cx="1761311" cy="66137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0681543"/>
              </p:ext>
            </p:extLst>
          </p:nvPr>
        </p:nvGraphicFramePr>
        <p:xfrm>
          <a:off x="3238501" y="4854348"/>
          <a:ext cx="2678973" cy="6010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2" name="Equation" r:id="rId7" imgW="1752480" imgH="393480" progId="Equation.3">
                  <p:embed/>
                </p:oleObj>
              </mc:Choice>
              <mc:Fallback>
                <p:oleObj name="Equation" r:id="rId7" imgW="1752480" imgH="393480" progId="Equation.3">
                  <p:embed/>
                  <p:pic>
                    <p:nvPicPr>
                      <p:cNvPr id="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1" y="4854348"/>
                        <a:ext cx="2678973" cy="601001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1756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2035169"/>
              </p:ext>
            </p:extLst>
          </p:nvPr>
        </p:nvGraphicFramePr>
        <p:xfrm>
          <a:off x="2524412" y="491700"/>
          <a:ext cx="3198223" cy="6827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3" name="Equation" r:id="rId3" imgW="1841400" imgH="393480" progId="Equation.3">
                  <p:embed/>
                </p:oleObj>
              </mc:Choice>
              <mc:Fallback>
                <p:oleObj name="Equation" r:id="rId3" imgW="1841400" imgH="393480" progId="Equation.3">
                  <p:embed/>
                  <p:pic>
                    <p:nvPicPr>
                      <p:cNvPr id="9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4412" y="491700"/>
                        <a:ext cx="3198223" cy="682704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920240" y="1397726"/>
            <a:ext cx="8268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Thay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PT :  1,257=1,44+0,059*</a:t>
            </a:r>
            <a:r>
              <a:rPr lang="en-US" dirty="0" err="1" smtClean="0"/>
              <a:t>lg</a:t>
            </a:r>
            <a:r>
              <a:rPr lang="en-US" dirty="0" smtClean="0"/>
              <a:t>(F-1), </a:t>
            </a:r>
            <a:r>
              <a:rPr lang="en-US" dirty="0" err="1" smtClean="0"/>
              <a:t>suy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 S=F-1=10 </a:t>
            </a:r>
            <a:r>
              <a:rPr lang="en-US" baseline="30000" dirty="0" smtClean="0"/>
              <a:t>-3,10169 </a:t>
            </a:r>
            <a:r>
              <a:rPr lang="en-US" dirty="0" smtClean="0"/>
              <a:t>* 100=  </a:t>
            </a:r>
            <a:r>
              <a:rPr lang="en-US" b="1" dirty="0" smtClean="0"/>
              <a:t>0,079%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723959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1026</Words>
  <Application>Microsoft Office PowerPoint</Application>
  <PresentationFormat>Widescreen</PresentationFormat>
  <Paragraphs>138</Paragraphs>
  <Slides>16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7" baseType="lpstr">
      <vt:lpstr>Aptos</vt:lpstr>
      <vt:lpstr>Arial</vt:lpstr>
      <vt:lpstr>Calibri</vt:lpstr>
      <vt:lpstr>Calibri Light</vt:lpstr>
      <vt:lpstr>Symbol</vt:lpstr>
      <vt:lpstr>Times New Roman</vt:lpstr>
      <vt:lpstr>TimesNewRomanPSMT</vt:lpstr>
      <vt:lpstr>Wingdings 2</vt:lpstr>
      <vt:lpstr>Office Theme</vt:lpstr>
      <vt:lpstr>Equation</vt:lpstr>
      <vt:lpstr>CS ChemDraw Drawing</vt:lpstr>
      <vt:lpstr>Tổng hợp các công thức hóa phân tích cần nhớ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Tổng hợp các công thức hóa phân tích cần nhớ</dc:title>
  <dc:creator>THINKPAD X270</dc:creator>
  <cp:lastModifiedBy>THINKPAD X270</cp:lastModifiedBy>
  <cp:revision>31</cp:revision>
  <dcterms:created xsi:type="dcterms:W3CDTF">2024-10-27T07:42:59Z</dcterms:created>
  <dcterms:modified xsi:type="dcterms:W3CDTF">2024-11-07T00:14:51Z</dcterms:modified>
</cp:coreProperties>
</file>